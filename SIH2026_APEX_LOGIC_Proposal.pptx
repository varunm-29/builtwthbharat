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1.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3017520" y="4681728"/>
            <a:ext cx="8412480" cy="365760"/>
          </a:xfrm>
          <a:prstGeom prst="rect">
            <a:avLst/>
          </a:prstGeom>
          <a:noFill/>
        </p:spPr>
        <p:txBody>
          <a:bodyPr wrap="square" lIns="0" rIns="0" tIns="0" bIns="0">
            <a:spAutoFit/>
          </a:bodyPr>
          <a:lstStyle/>
          <a:p>
            <a:pPr>
              <a:defRPr sz="1400" b="1">
                <a:solidFill>
                  <a:srgbClr val="1A202C"/>
                </a:solidFill>
                <a:latin typeface="Helvetica"/>
              </a:defRPr>
            </a:pPr>
            <a:r>
              <a:t>APEX LOGIC</a:t>
            </a:r>
          </a:p>
        </p:txBody>
      </p:sp>
      <p:sp>
        <p:nvSpPr>
          <p:cNvPr id="4" name="TextBox 3"/>
          <p:cNvSpPr txBox="1"/>
          <p:nvPr/>
        </p:nvSpPr>
        <p:spPr>
          <a:xfrm>
            <a:off x="3017520" y="5056632"/>
            <a:ext cx="8412480" cy="365760"/>
          </a:xfrm>
          <a:prstGeom prst="rect">
            <a:avLst/>
          </a:prstGeom>
          <a:noFill/>
        </p:spPr>
        <p:txBody>
          <a:bodyPr wrap="square" lIns="0" rIns="0" tIns="0" bIns="0">
            <a:spAutoFit/>
          </a:bodyPr>
          <a:lstStyle/>
          <a:p>
            <a:pPr>
              <a:defRPr sz="1400" b="1">
                <a:solidFill>
                  <a:srgbClr val="1A202C"/>
                </a:solidFill>
                <a:latin typeface="Helvetica"/>
              </a:defRPr>
            </a:pPr>
            <a:r>
              <a:t>SIH26189 - AI-Powered Criminal Network Analysis System</a:t>
            </a:r>
          </a:p>
        </p:txBody>
      </p:sp>
      <p:sp>
        <p:nvSpPr>
          <p:cNvPr id="5" name="TextBox 4"/>
          <p:cNvSpPr txBox="1"/>
          <p:nvPr/>
        </p:nvSpPr>
        <p:spPr>
          <a:xfrm>
            <a:off x="3017520" y="5440680"/>
            <a:ext cx="8412480" cy="365760"/>
          </a:xfrm>
          <a:prstGeom prst="rect">
            <a:avLst/>
          </a:prstGeom>
          <a:noFill/>
        </p:spPr>
        <p:txBody>
          <a:bodyPr wrap="square" lIns="0" rIns="0" tIns="0" bIns="0">
            <a:spAutoFit/>
          </a:bodyPr>
          <a:lstStyle/>
          <a:p>
            <a:pPr>
              <a:defRPr sz="1400" b="1">
                <a:solidFill>
                  <a:srgbClr val="1A202C"/>
                </a:solidFill>
                <a:latin typeface="Helvetica"/>
              </a:defRPr>
            </a:pPr>
            <a:r>
              <a:t>Vansh Sirohi (L), Varun Mishra, Vaibhav Thakur, Soumya Verma, Utkarsh Sharma</a:t>
            </a:r>
          </a:p>
        </p:txBody>
      </p:sp>
      <p:sp>
        <p:nvSpPr>
          <p:cNvPr id="6" name="TextBox 5"/>
          <p:cNvSpPr txBox="1"/>
          <p:nvPr/>
        </p:nvSpPr>
        <p:spPr>
          <a:xfrm>
            <a:off x="3017520" y="5833872"/>
            <a:ext cx="8412480" cy="365760"/>
          </a:xfrm>
          <a:prstGeom prst="rect">
            <a:avLst/>
          </a:prstGeom>
          <a:noFill/>
        </p:spPr>
        <p:txBody>
          <a:bodyPr wrap="square" lIns="0" rIns="0" tIns="0" bIns="0">
            <a:spAutoFit/>
          </a:bodyPr>
          <a:lstStyle/>
          <a:p>
            <a:pPr>
              <a:defRPr sz="1400" b="1">
                <a:solidFill>
                  <a:srgbClr val="1A202C"/>
                </a:solidFill>
                <a:latin typeface="Helvetica"/>
              </a:defRPr>
            </a:pPr>
            <a:r>
              <a:t>ABES Engineering College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2.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3931920"/>
          </a:xfrm>
          <a:prstGeom prst="rect">
            <a:avLst/>
          </a:prstGeom>
          <a:noFill/>
        </p:spPr>
        <p:txBody>
          <a:bodyPr wrap="square" lIns="0" rIns="0" tIns="0" bIns="0">
            <a:spAutoFit/>
          </a:bodyPr>
          <a:lstStyle/>
          <a:p>
            <a:pPr>
              <a:spcAft>
                <a:spcPts val="800"/>
              </a:spcAft>
              <a:defRPr sz="1100" b="1">
                <a:solidFill>
                  <a:srgbClr val="2B6CB0"/>
                </a:solidFill>
                <a:latin typeface="Helvetica"/>
              </a:defRPr>
            </a:pPr>
            <a:r>
              <a:t>CORE CHALLENGE: SILOED &amp; UNSTRUCTURED DATA</a:t>
            </a:r>
          </a:p>
          <a:p>
            <a:pPr>
              <a:spcAft>
                <a:spcPts val="1200"/>
              </a:spcAft>
              <a:defRPr sz="1100">
                <a:solidFill>
                  <a:srgbClr val="1A202C"/>
                </a:solidFill>
                <a:latin typeface="Helvetica"/>
              </a:defRPr>
            </a:pPr>
            <a:r>
              <a:t>As cyber financial frauds escalate across India, local law enforcement agencies face severe delays in investigations due to the fragmented nature of case files. Call Detail Records (CDRs), bank transaction logs, and First Information Reports (FIRs) reside in disjointed files and local languages.</a:t>
            </a:r>
          </a:p>
          <a:p>
            <a:pPr>
              <a:spcAft>
                <a:spcPts val="600"/>
              </a:spcAft>
              <a:defRPr sz="1100" b="1">
                <a:solidFill>
                  <a:srgbClr val="2B6CB0"/>
                </a:solidFill>
                <a:latin typeface="Helvetica"/>
              </a:defRPr>
            </a:pPr>
            <a:r>
              <a:t>WHY APEX LOGIC CHOSE THIS?</a:t>
            </a:r>
          </a:p>
          <a:p>
            <a:pPr>
              <a:defRPr sz="1050">
                <a:solidFill>
                  <a:srgbClr val="718096"/>
                </a:solidFill>
                <a:latin typeface="Helvetica"/>
              </a:defRPr>
            </a:pPr>
            <a:r>
              <a:t>Manual analysis of CDR excels and narrative case files is slow and prone to human errors. Syndicate leaders hide behind multiple hops of calls and bank accounts. We chose this problem to build a unified visual portal that parses files automatically, linking telecom and financial trails in minutes to accelerate police response.</a:t>
            </a:r>
          </a:p>
        </p:txBody>
      </p:sp>
      <p:sp>
        <p:nvSpPr>
          <p:cNvPr id="5" name="Rounded Rectangle 4"/>
          <p:cNvSpPr/>
          <p:nvPr/>
        </p:nvSpPr>
        <p:spPr>
          <a:xfrm>
            <a:off x="6309360" y="1645920"/>
            <a:ext cx="5120640" cy="1298448"/>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737360"/>
            <a:ext cx="4846320" cy="1097280"/>
          </a:xfrm>
          <a:prstGeom prst="rect">
            <a:avLst/>
          </a:prstGeom>
          <a:noFill/>
        </p:spPr>
        <p:txBody>
          <a:bodyPr wrap="square" lIns="0" rIns="0" tIns="0" bIns="0">
            <a:spAutoFit/>
          </a:bodyPr>
          <a:lstStyle/>
          <a:p>
            <a:pPr>
              <a:defRPr sz="1150" b="1">
                <a:solidFill>
                  <a:srgbClr val="2B6CB0"/>
                </a:solidFill>
                <a:latin typeface="Helvetica"/>
              </a:defRPr>
            </a:pPr>
            <a:r>
              <a:t>🚨  Data Siloing</a:t>
            </a:r>
          </a:p>
          <a:p>
            <a:pPr>
              <a:spcBef>
                <a:spcPts val="400"/>
              </a:spcBef>
              <a:defRPr sz="950">
                <a:solidFill>
                  <a:srgbClr val="718096"/>
                </a:solidFill>
                <a:latin typeface="Helvetica"/>
              </a:defRPr>
            </a:pPr>
            <a:r>
              <a:t>Telecom logs (CDRs), financial transactions, and case narrative documents are processed in isolation, making cross-modal links invisible.</a:t>
            </a:r>
          </a:p>
        </p:txBody>
      </p:sp>
      <p:sp>
        <p:nvSpPr>
          <p:cNvPr id="7" name="Rounded Rectangle 6"/>
          <p:cNvSpPr/>
          <p:nvPr/>
        </p:nvSpPr>
        <p:spPr>
          <a:xfrm>
            <a:off x="6309360" y="3145536"/>
            <a:ext cx="5120640" cy="1298448"/>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3236976"/>
            <a:ext cx="4846320" cy="1097280"/>
          </a:xfrm>
          <a:prstGeom prst="rect">
            <a:avLst/>
          </a:prstGeom>
          <a:noFill/>
        </p:spPr>
        <p:txBody>
          <a:bodyPr wrap="square" lIns="0" rIns="0" tIns="0" bIns="0">
            <a:spAutoFit/>
          </a:bodyPr>
          <a:lstStyle/>
          <a:p>
            <a:pPr>
              <a:defRPr sz="1150" b="1">
                <a:solidFill>
                  <a:srgbClr val="2B6CB0"/>
                </a:solidFill>
                <a:latin typeface="Helvetica"/>
              </a:defRPr>
            </a:pPr>
            <a:r>
              <a:t>📄  Unstructured Narratives</a:t>
            </a:r>
          </a:p>
          <a:p>
            <a:pPr>
              <a:spcBef>
                <a:spcPts val="400"/>
              </a:spcBef>
              <a:defRPr sz="950">
                <a:solidFill>
                  <a:srgbClr val="718096"/>
                </a:solidFill>
                <a:latin typeface="Helvetica"/>
              </a:defRPr>
            </a:pPr>
            <a:r>
              <a:t>Valuable suspect details and names are locked in narrative text (FIRs) written in regional Indian languages, requiring translation.</a:t>
            </a:r>
          </a:p>
        </p:txBody>
      </p:sp>
      <p:sp>
        <p:nvSpPr>
          <p:cNvPr id="9" name="Rounded Rectangle 8"/>
          <p:cNvSpPr/>
          <p:nvPr/>
        </p:nvSpPr>
        <p:spPr>
          <a:xfrm>
            <a:off x="6309360" y="4645152"/>
            <a:ext cx="5120640" cy="1298448"/>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736592"/>
            <a:ext cx="4846320" cy="1097280"/>
          </a:xfrm>
          <a:prstGeom prst="rect">
            <a:avLst/>
          </a:prstGeom>
          <a:noFill/>
        </p:spPr>
        <p:txBody>
          <a:bodyPr wrap="square" lIns="0" rIns="0" tIns="0" bIns="0">
            <a:spAutoFit/>
          </a:bodyPr>
          <a:lstStyle/>
          <a:p>
            <a:pPr>
              <a:defRPr sz="1150" b="1">
                <a:solidFill>
                  <a:srgbClr val="2B6CB0"/>
                </a:solidFill>
                <a:latin typeface="Helvetica"/>
              </a:defRPr>
            </a:pPr>
            <a:r>
              <a:t>👥  Syndicate Obfuscation</a:t>
            </a:r>
          </a:p>
          <a:p>
            <a:pPr>
              <a:spcBef>
                <a:spcPts val="400"/>
              </a:spcBef>
              <a:defRPr sz="950">
                <a:solidFill>
                  <a:srgbClr val="718096"/>
                </a:solidFill>
                <a:latin typeface="Helvetica"/>
              </a:defRPr>
            </a:pPr>
            <a:r>
              <a:t>Fraud ringleaders hide behind multi-hop calls and shell accounts, requiring graph network analytics to trace them mathematically.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3.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3931920"/>
          </a:xfrm>
          <a:prstGeom prst="rect">
            <a:avLst/>
          </a:prstGeom>
          <a:noFill/>
        </p:spPr>
        <p:txBody>
          <a:bodyPr wrap="square" lIns="0" rIns="0" tIns="0" bIns="0">
            <a:spAutoFit/>
          </a:bodyPr>
          <a:lstStyle/>
          <a:p>
            <a:pPr>
              <a:spcAft>
                <a:spcPts val="800"/>
              </a:spcAft>
              <a:defRPr sz="1100" b="1">
                <a:solidFill>
                  <a:srgbClr val="2B6CB0"/>
                </a:solidFill>
                <a:latin typeface="Helvetica"/>
              </a:defRPr>
            </a:pPr>
            <a:r>
              <a:t>PROPOSED SOLUTION: SENTINEL LINK</a:t>
            </a:r>
          </a:p>
          <a:p>
            <a:pPr>
              <a:spcAft>
                <a:spcPts val="1200"/>
              </a:spcAft>
              <a:defRPr sz="1100">
                <a:solidFill>
                  <a:srgbClr val="1A202C"/>
                </a:solidFill>
                <a:latin typeface="Helvetica"/>
              </a:defRPr>
            </a:pPr>
            <a:r>
              <a:t>Sentinel Link is a lightweight, AI-powered link-analysis and graph intelligence dashboard built for cyber crime cells. The system ingests raw narrative case files, phone call sheets, and bank transaction statements. It extracts entities, translates regional language case text, resolves suspect aliases, and builds a unified relational graph.</a:t>
            </a:r>
          </a:p>
          <a:p>
            <a:pPr>
              <a:spcAft>
                <a:spcPts val="600"/>
              </a:spcAft>
              <a:defRPr sz="1100" b="1">
                <a:solidFill>
                  <a:srgbClr val="2B6CB0"/>
                </a:solidFill>
                <a:latin typeface="Helvetica"/>
              </a:defRPr>
            </a:pPr>
            <a:r>
              <a:t>HOW DO WE MAKE IT?</a:t>
            </a:r>
          </a:p>
          <a:p>
            <a:pPr>
              <a:defRPr sz="1050">
                <a:solidFill>
                  <a:srgbClr val="718096"/>
                </a:solidFill>
                <a:latin typeface="Helvetica"/>
              </a:defRPr>
            </a:pPr>
            <a:r>
              <a:t>We will construct the system using a python backend (FastAPI) and a React/Tailwind frontend. The backend parses texts via spaCy, models relations via NetworkX/Neo4j, and calculates PageRank centrality to highlight syndicate leaders. The frontend renders dynamic, interactive visual node graphs using Vis.js.</a:t>
            </a:r>
          </a:p>
        </p:txBody>
      </p:sp>
      <p:sp>
        <p:nvSpPr>
          <p:cNvPr id="5" name="Rounded Rectangle 4"/>
          <p:cNvSpPr/>
          <p:nvPr/>
        </p:nvSpPr>
        <p:spPr>
          <a:xfrm>
            <a:off x="6309360" y="1645920"/>
            <a:ext cx="5120640" cy="1298448"/>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737360"/>
            <a:ext cx="4846320" cy="1097280"/>
          </a:xfrm>
          <a:prstGeom prst="rect">
            <a:avLst/>
          </a:prstGeom>
          <a:noFill/>
        </p:spPr>
        <p:txBody>
          <a:bodyPr wrap="square" lIns="0" rIns="0" tIns="0" bIns="0">
            <a:spAutoFit/>
          </a:bodyPr>
          <a:lstStyle/>
          <a:p>
            <a:pPr>
              <a:defRPr sz="1150" b="1">
                <a:solidFill>
                  <a:srgbClr val="2B6CB0"/>
                </a:solidFill>
                <a:latin typeface="Helvetica"/>
              </a:defRPr>
            </a:pPr>
            <a:r>
              <a:t>🔮  AI Ingestion &amp; Translation</a:t>
            </a:r>
          </a:p>
          <a:p>
            <a:pPr>
              <a:spcBef>
                <a:spcPts val="400"/>
              </a:spcBef>
              <a:defRPr sz="950">
                <a:solidFill>
                  <a:srgbClr val="718096"/>
                </a:solidFill>
                <a:latin typeface="Helvetica"/>
              </a:defRPr>
            </a:pPr>
            <a:r>
              <a:t>Automatically extracts entities (suspects, phone numbers, locations) from case texts and translates regional dialects into English.</a:t>
            </a:r>
          </a:p>
        </p:txBody>
      </p:sp>
      <p:sp>
        <p:nvSpPr>
          <p:cNvPr id="7" name="Rounded Rectangle 6"/>
          <p:cNvSpPr/>
          <p:nvPr/>
        </p:nvSpPr>
        <p:spPr>
          <a:xfrm>
            <a:off x="6309360" y="3145536"/>
            <a:ext cx="5120640" cy="1298448"/>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3236976"/>
            <a:ext cx="4846320" cy="1097280"/>
          </a:xfrm>
          <a:prstGeom prst="rect">
            <a:avLst/>
          </a:prstGeom>
          <a:noFill/>
        </p:spPr>
        <p:txBody>
          <a:bodyPr wrap="square" lIns="0" rIns="0" tIns="0" bIns="0">
            <a:spAutoFit/>
          </a:bodyPr>
          <a:lstStyle/>
          <a:p>
            <a:pPr>
              <a:defRPr sz="1150" b="1">
                <a:solidFill>
                  <a:srgbClr val="2B6CB0"/>
                </a:solidFill>
                <a:latin typeface="Helvetica"/>
              </a:defRPr>
            </a:pPr>
            <a:r>
              <a:t>⚠️  Graph Entity Resolution</a:t>
            </a:r>
          </a:p>
          <a:p>
            <a:pPr>
              <a:spcBef>
                <a:spcPts val="400"/>
              </a:spcBef>
              <a:defRPr sz="950">
                <a:solidFill>
                  <a:srgbClr val="718096"/>
                </a:solidFill>
                <a:latin typeface="Helvetica"/>
              </a:defRPr>
            </a:pPr>
            <a:r>
              <a:t>Resolves and merges matching identities, phone numbers, and bank account profiles across disjointed files into one clean network.</a:t>
            </a:r>
          </a:p>
        </p:txBody>
      </p:sp>
      <p:sp>
        <p:nvSpPr>
          <p:cNvPr id="9" name="Rounded Rectangle 8"/>
          <p:cNvSpPr/>
          <p:nvPr/>
        </p:nvSpPr>
        <p:spPr>
          <a:xfrm>
            <a:off x="6309360" y="4645152"/>
            <a:ext cx="5120640" cy="1298448"/>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736592"/>
            <a:ext cx="4846320" cy="1097280"/>
          </a:xfrm>
          <a:prstGeom prst="rect">
            <a:avLst/>
          </a:prstGeom>
          <a:noFill/>
        </p:spPr>
        <p:txBody>
          <a:bodyPr wrap="square" lIns="0" rIns="0" tIns="0" bIns="0">
            <a:spAutoFit/>
          </a:bodyPr>
          <a:lstStyle/>
          <a:p>
            <a:pPr>
              <a:defRPr sz="1150" b="1">
                <a:solidFill>
                  <a:srgbClr val="2B6CB0"/>
                </a:solidFill>
                <a:latin typeface="Helvetica"/>
              </a:defRPr>
            </a:pPr>
            <a:r>
              <a:t>📊  Graph Network Analytics</a:t>
            </a:r>
          </a:p>
          <a:p>
            <a:pPr>
              <a:spcBef>
                <a:spcPts val="400"/>
              </a:spcBef>
              <a:defRPr sz="950">
                <a:solidFill>
                  <a:srgbClr val="718096"/>
                </a:solidFill>
                <a:latin typeface="Helvetica"/>
              </a:defRPr>
            </a:pPr>
            <a:r>
              <a:t>PageRank centrality identifies key syndicate ringleaders, and Dijkstra shortest-path calculates transit routes and cash-laundering trails.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4.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CORE DATA WORKFLOW STEPS</a:t>
            </a:r>
          </a:p>
          <a:p>
            <a:pPr>
              <a:spcAft>
                <a:spcPts val="600"/>
              </a:spcAft>
              <a:defRPr sz="950">
                <a:solidFill>
                  <a:srgbClr val="1A202C"/>
                </a:solidFill>
                <a:latin typeface="Helvetica"/>
              </a:defRPr>
            </a:pPr>
            <a:r>
              <a:t>&lt;b&gt;1. Upload:&lt;/b&gt; Investigator uploads raw, multi-format files (PDF narrative FIRs, CDR CSV phone logs, bank statement Excels) into the dashboard.</a:t>
            </a:r>
          </a:p>
          <a:p>
            <a:pPr>
              <a:spcAft>
                <a:spcPts val="600"/>
              </a:spcAft>
              <a:defRPr sz="950">
                <a:solidFill>
                  <a:srgbClr val="1A202C"/>
                </a:solidFill>
                <a:latin typeface="Helvetica"/>
              </a:defRPr>
            </a:pPr>
            <a:r>
              <a:t>&lt;b&gt;2. NLP Parsing:&lt;/b&gt; Python spacy models parse raw case files, extract suspect entities, and translate local-language reports.</a:t>
            </a:r>
          </a:p>
          <a:p>
            <a:pPr>
              <a:spcAft>
                <a:spcPts val="600"/>
              </a:spcAft>
              <a:defRPr sz="950">
                <a:solidFill>
                  <a:srgbClr val="1A202C"/>
                </a:solidFill>
                <a:latin typeface="Helvetica"/>
              </a:defRPr>
            </a:pPr>
            <a:r>
              <a:t>&lt;b&gt;3. Graph Indexing:&lt;/b&gt; Unique nodes (Suspect, Phone, Bank Account) are resolved and relationships are saved in Neo4j/SQLite.</a:t>
            </a:r>
          </a:p>
          <a:p>
            <a:pPr>
              <a:spcAft>
                <a:spcPts val="600"/>
              </a:spcAft>
              <a:defRPr sz="950">
                <a:solidFill>
                  <a:srgbClr val="1A202C"/>
                </a:solidFill>
                <a:latin typeface="Helvetica"/>
              </a:defRPr>
            </a:pPr>
            <a:r>
              <a:t>&lt;b&gt;4. Analytics Trigger:&lt;/b&gt; Backend computes graph algorithms (PageRank, Shortest Path) on the network in milliseconds.</a:t>
            </a:r>
          </a:p>
          <a:p>
            <a:pPr>
              <a:spcAft>
                <a:spcPts val="600"/>
              </a:spcAft>
              <a:defRPr sz="950">
                <a:solidFill>
                  <a:srgbClr val="1A202C"/>
                </a:solidFill>
                <a:latin typeface="Helvetica"/>
              </a:defRPr>
            </a:pPr>
            <a:r>
              <a:t>&lt;b&gt;5. Vis.js Render:&lt;/b&gt; Vis.js renders the physics-simulated node map with draggable nodes, highlight trails, and a timeline history slider.</a:t>
            </a:r>
          </a:p>
        </p:txBody>
      </p:sp>
      <p:sp>
        <p:nvSpPr>
          <p:cNvPr id="5" name="Rounded Rectangle 4"/>
          <p:cNvSpPr/>
          <p:nvPr/>
        </p:nvSpPr>
        <p:spPr>
          <a:xfrm>
            <a:off x="630936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SYSTEM ARCHITECTURE &amp; INTEGRATION</a:t>
            </a:r>
          </a:p>
          <a:p>
            <a:pPr>
              <a:spcAft>
                <a:spcPts val="800"/>
              </a:spcAft>
              <a:defRPr sz="950">
                <a:solidFill>
                  <a:srgbClr val="1A202C"/>
                </a:solidFill>
                <a:latin typeface="Helvetica"/>
              </a:defRPr>
            </a:pPr>
            <a:r>
              <a:t>&lt;b&gt;Frontend Layer (Client UI):&lt;/b&gt;</a:t>
            </a:r>
            <a:br/>
            <a:r>
              <a:t>React + Tailwind CSS. Integrates a Vis.js Canvas module for drawing the graph network and Axios for communicating with the APIs.</a:t>
            </a:r>
          </a:p>
          <a:p>
            <a:pPr>
              <a:spcAft>
                <a:spcPts val="800"/>
              </a:spcAft>
              <a:defRPr sz="950">
                <a:solidFill>
                  <a:srgbClr val="1A202C"/>
                </a:solidFill>
                <a:latin typeface="Helvetica"/>
              </a:defRPr>
            </a:pPr>
            <a:r>
              <a:t>&lt;b&gt;Backend Orchestration Layer:&lt;/b&gt;</a:t>
            </a:r>
            <a:br/>
            <a:r>
              <a:t>FastAPI (Python) serves API endpoints: &lt;code&gt;/api/ingest&lt;/code&gt; (to parse case text files) and &lt;code&gt;/api/graph&lt;/code&gt; (to fetch the node-edge JSON structures).</a:t>
            </a:r>
          </a:p>
          <a:p>
            <a:pPr>
              <a:defRPr sz="950">
                <a:solidFill>
                  <a:srgbClr val="1A202C"/>
                </a:solidFill>
                <a:latin typeface="Helvetica"/>
              </a:defRPr>
            </a:pPr>
            <a:r>
              <a:t>&lt;b&gt;Graph Ingestion Engine:&lt;/b&gt;</a:t>
            </a:r>
            <a:br/>
            <a:r>
              <a:t>NetworkX / Neo4j database models the nodes (Suspect, Phone, Bank Account, Location) and runs graph algorithms dynamically.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5.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CORE COMPONENT TECH STACK</a:t>
            </a:r>
          </a:p>
          <a:p>
            <a:pPr>
              <a:spcAft>
                <a:spcPts val="600"/>
              </a:spcAft>
              <a:defRPr sz="950">
                <a:solidFill>
                  <a:srgbClr val="1A202C"/>
                </a:solidFill>
                <a:latin typeface="Helvetica"/>
              </a:defRPr>
            </a:pPr>
            <a:r>
              <a:t>&lt;b&gt;🖥️  Frontend Framework:&lt;/b&gt; React 18 + Vite, Tailwind CSS (for modern UI)</a:t>
            </a:r>
          </a:p>
          <a:p>
            <a:pPr>
              <a:spcAft>
                <a:spcPts val="600"/>
              </a:spcAft>
              <a:defRPr sz="950">
                <a:solidFill>
                  <a:srgbClr val="1A202C"/>
                </a:solidFill>
                <a:latin typeface="Helvetica"/>
              </a:defRPr>
            </a:pPr>
            <a:r>
              <a:t>&lt;b&gt;🕸️  Graph Visual Library:&lt;/b&gt; Vis.js (handling spring-physics-based layouts)</a:t>
            </a:r>
          </a:p>
          <a:p>
            <a:pPr>
              <a:spcAft>
                <a:spcPts val="600"/>
              </a:spcAft>
              <a:defRPr sz="950">
                <a:solidFill>
                  <a:srgbClr val="1A202C"/>
                </a:solidFill>
                <a:latin typeface="Helvetica"/>
              </a:defRPr>
            </a:pPr>
            <a:r>
              <a:t>&lt;b&gt;⚙️  Backend Framework:&lt;/b&gt; Python FastAPI, Uvicorn, Pydantic</a:t>
            </a:r>
          </a:p>
          <a:p>
            <a:pPr>
              <a:spcAft>
                <a:spcPts val="600"/>
              </a:spcAft>
              <a:defRPr sz="950">
                <a:solidFill>
                  <a:srgbClr val="1A202C"/>
                </a:solidFill>
                <a:latin typeface="Helvetica"/>
              </a:defRPr>
            </a:pPr>
            <a:r>
              <a:t>&lt;b&gt;🤖  AI / NLP Engine:&lt;/b&gt; spaCy NLP (NER Models) + HuggingFace MarianMT</a:t>
            </a:r>
          </a:p>
          <a:p>
            <a:pPr>
              <a:spcAft>
                <a:spcPts val="600"/>
              </a:spcAft>
              <a:defRPr sz="950">
                <a:solidFill>
                  <a:srgbClr val="1A202C"/>
                </a:solidFill>
                <a:latin typeface="Helvetica"/>
              </a:defRPr>
            </a:pPr>
            <a:r>
              <a:t>&lt;b&gt;🗄️  Graph Database:&lt;/b&gt; NetworkX / Neo4j Graph DB</a:t>
            </a:r>
          </a:p>
          <a:p>
            <a:pPr>
              <a:spcAft>
                <a:spcPts val="600"/>
              </a:spcAft>
              <a:defRPr sz="950">
                <a:solidFill>
                  <a:srgbClr val="1A202C"/>
                </a:solidFill>
                <a:latin typeface="Helvetica"/>
              </a:defRPr>
            </a:pPr>
            <a:r>
              <a:t>&lt;b&gt;💾  Relational Database:&lt;/b&gt; SQLite / PostgreSQL (user logs and reports)</a:t>
            </a:r>
          </a:p>
        </p:txBody>
      </p:sp>
      <p:sp>
        <p:nvSpPr>
          <p:cNvPr id="5" name="Rounded Rectangle 4"/>
          <p:cNvSpPr/>
          <p:nvPr/>
        </p:nvSpPr>
        <p:spPr>
          <a:xfrm>
            <a:off x="630936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APIS, LIBRARIES &amp; DEPLOYMENT PLAN</a:t>
            </a:r>
          </a:p>
          <a:p>
            <a:pPr>
              <a:spcAft>
                <a:spcPts val="1200"/>
              </a:spcAft>
              <a:defRPr sz="950">
                <a:solidFill>
                  <a:srgbClr val="1A202C"/>
                </a:solidFill>
                <a:latin typeface="Helvetica"/>
              </a:defRPr>
            </a:pPr>
            <a:r>
              <a:t>&lt;b&gt;Backend Libraries:&lt;/b&gt;</a:t>
            </a:r>
            <a:br/>
            <a:r>
              <a:t>spaCy-models, NetworkX, vis-js, fastapi, neo4j-driver, MarianMT-translator, react-router, SQLite3.</a:t>
            </a:r>
          </a:p>
          <a:p>
            <a:pPr>
              <a:defRPr sz="950">
                <a:solidFill>
                  <a:srgbClr val="1A202C"/>
                </a:solidFill>
                <a:latin typeface="Helvetica"/>
              </a:defRPr>
            </a:pPr>
            <a:r>
              <a:t>&lt;b&gt;Deployment Strategy:&lt;/b&gt;</a:t>
            </a:r>
            <a:br/>
            <a:r>
              <a:t>• &lt;i&gt;Local (Zero-Setup):&lt;/i&gt; Packaged as a desktop installer or simple runnable batch script (run.bat) for zero-setup police computer deployment.</a:t>
            </a:r>
            <a:br/>
            <a:r>
              <a:t>• &lt;i&gt;Production:&lt;/i&gt; Frontend hosted on Vercel CDN, Backend deployed via Railway container, and Graph database persistent on Neo4j Aura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6.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CORE UNIQUE SELLING PROPOSITIONS</a:t>
            </a:r>
          </a:p>
          <a:p>
            <a:pPr>
              <a:defRPr sz="1050">
                <a:solidFill>
                  <a:srgbClr val="2B6CB0"/>
                </a:solidFill>
                <a:latin typeface="Helvetica"/>
              </a:defRPr>
            </a:pPr>
            <a:r>
              <a:t>&lt;b&gt;🔗  Cross-Modal Data Fusion&lt;/b&gt;</a:t>
            </a:r>
          </a:p>
          <a:p>
            <a:pPr>
              <a:spcAft>
                <a:spcPts val="800"/>
              </a:spcAft>
              <a:defRPr sz="950">
                <a:solidFill>
                  <a:srgbClr val="1A202C"/>
                </a:solidFill>
                <a:latin typeface="Helvetica"/>
              </a:defRPr>
            </a:pPr>
            <a:r>
              <a:t>Fuses telecom logs (CDRs), financial transaction sheets, and written case narrative texts (FIRs) into a single, unified database.</a:t>
            </a:r>
          </a:p>
          <a:p>
            <a:pPr>
              <a:defRPr sz="1050">
                <a:solidFill>
                  <a:srgbClr val="2B6CB0"/>
                </a:solidFill>
                <a:latin typeface="Helvetica"/>
              </a:defRPr>
            </a:pPr>
            <a:r>
              <a:t>&lt;b&gt;🗣️  Indian Vernacular Support&lt;/b&gt;</a:t>
            </a:r>
          </a:p>
          <a:p>
            <a:pPr>
              <a:spcAft>
                <a:spcPts val="800"/>
              </a:spcAft>
              <a:defRPr sz="950">
                <a:solidFill>
                  <a:srgbClr val="1A202C"/>
                </a:solidFill>
                <a:latin typeface="Helvetica"/>
              </a:defRPr>
            </a:pPr>
            <a:r>
              <a:t>Translates and transliterates regional Indian language case reports (e.g. Hindi, Hinglish) to extract standardized suspect entities.</a:t>
            </a:r>
          </a:p>
          <a:p>
            <a:pPr>
              <a:defRPr sz="1050">
                <a:solidFill>
                  <a:srgbClr val="2B6CB0"/>
                </a:solidFill>
                <a:latin typeface="Helvetica"/>
              </a:defRPr>
            </a:pPr>
            <a:r>
              <a:t>&lt;b&gt;📉  Zero-Setup Fallback DB&lt;/b&gt;</a:t>
            </a:r>
          </a:p>
          <a:p>
            <a:pPr>
              <a:spcAft>
                <a:spcPts val="800"/>
              </a:spcAft>
              <a:defRPr sz="950">
                <a:solidFill>
                  <a:srgbClr val="1A202C"/>
                </a:solidFill>
                <a:latin typeface="Helvetica"/>
              </a:defRPr>
            </a:pPr>
            <a:r>
              <a:t>Includes an in-memory graph model that automatically triggers if Neo4j is offline, ensuring a plug-and-play local station demo.</a:t>
            </a:r>
          </a:p>
        </p:txBody>
      </p:sp>
      <p:sp>
        <p:nvSpPr>
          <p:cNvPr id="5" name="Rounded Rectangle 4"/>
          <p:cNvSpPr/>
          <p:nvPr/>
        </p:nvSpPr>
        <p:spPr>
          <a:xfrm>
            <a:off x="630936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ADDITIONAL SYSTEM INNOVATIONS</a:t>
            </a:r>
          </a:p>
          <a:p>
            <a:pPr>
              <a:spcAft>
                <a:spcPts val="1200"/>
              </a:spcAft>
              <a:defRPr sz="950">
                <a:solidFill>
                  <a:srgbClr val="1A202C"/>
                </a:solidFill>
                <a:latin typeface="Helvetica"/>
              </a:defRPr>
            </a:pPr>
            <a:r>
              <a:t>&lt;b&gt;⏳  Dynamic Temporal Network Slider:&lt;/b&gt;</a:t>
            </a:r>
            <a:br/>
            <a:r>
              <a:t>Visualizes connection history dynamically. Dragging a timeline slider shows the step-by-step evolution of the syndicate network chronologically, tracing who called whom first.</a:t>
            </a:r>
          </a:p>
          <a:p>
            <a:pPr>
              <a:defRPr sz="950">
                <a:solidFill>
                  <a:srgbClr val="1A202C"/>
                </a:solidFill>
                <a:latin typeface="Helvetica"/>
              </a:defRPr>
            </a:pPr>
            <a:r>
              <a:t>&lt;b&gt;⚖️  Automated Risk Scoring:&lt;/b&gt;</a:t>
            </a:r>
            <a:br/>
            <a:r>
              <a:t>Calculates suspect risk metrics using degree centrality and transaction frequency, flagging high-risk nodes (kingpins) in red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7.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FEASIBILITY &amp; PROJECT VIABILITY</a:t>
            </a:r>
          </a:p>
          <a:p>
            <a:pPr>
              <a:spcAft>
                <a:spcPts val="1000"/>
              </a:spcAft>
              <a:defRPr sz="950">
                <a:solidFill>
                  <a:srgbClr val="1A202C"/>
                </a:solidFill>
                <a:latin typeface="Helvetica"/>
              </a:defRPr>
            </a:pPr>
            <a:r>
              <a:t>&lt;b&gt;Technical Feasibility: High&lt;/b&gt;</a:t>
            </a:r>
            <a:br/>
            <a:r>
              <a:t>Built using lightweight, open-source libraries (FastAPI, NetworkX, spaCy) that run efficiently on local computers without requiring high-end GPU servers.</a:t>
            </a:r>
          </a:p>
          <a:p>
            <a:pPr>
              <a:spcAft>
                <a:spcPts val="1000"/>
              </a:spcAft>
              <a:defRPr sz="950">
                <a:solidFill>
                  <a:srgbClr val="1A202C"/>
                </a:solidFill>
                <a:latin typeface="Helvetica"/>
              </a:defRPr>
            </a:pPr>
            <a:r>
              <a:t>&lt;b&gt;Operational Viability: Excellent&lt;/b&gt;</a:t>
            </a:r>
            <a:br/>
            <a:r>
              <a:t>Fills a critical gap for cybercrime cells. The drag-and-drop ingestion reduces manual data entry and requires minimal investigator training.</a:t>
            </a:r>
          </a:p>
          <a:p>
            <a:pPr>
              <a:defRPr sz="950">
                <a:solidFill>
                  <a:srgbClr val="1A202C"/>
                </a:solidFill>
                <a:latin typeface="Helvetica"/>
              </a:defRPr>
            </a:pPr>
            <a:r>
              <a:t>&lt;b&gt;Challenges &amp; Mitigation:&lt;/b&gt;</a:t>
            </a:r>
            <a:br/>
            <a:r>
              <a:t>Poor OCR quality of scanned FIRs will be mitigated by integrating Tesseract preprocessing scripts (noise reduction, contrast scaling).</a:t>
            </a:r>
          </a:p>
        </p:txBody>
      </p:sp>
      <p:sp>
        <p:nvSpPr>
          <p:cNvPr id="5" name="Rounded Rectangle 4"/>
          <p:cNvSpPr/>
          <p:nvPr/>
        </p:nvSpPr>
        <p:spPr>
          <a:xfrm>
            <a:off x="630936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COMPETITOR COMPARISON MATRIX</a:t>
            </a:r>
          </a:p>
          <a:p>
            <a:pPr>
              <a:defRPr sz="1000">
                <a:solidFill>
                  <a:srgbClr val="2B6CB0"/>
                </a:solidFill>
                <a:latin typeface="Helvetica"/>
              </a:defRPr>
            </a:pPr>
            <a:r>
              <a:t>&lt;b&gt;📊  Police Status Quo (Excel/Highlighters)&lt;/b&gt;</a:t>
            </a:r>
          </a:p>
          <a:p>
            <a:pPr>
              <a:spcAft>
                <a:spcPts val="600"/>
              </a:spcAft>
              <a:defRPr sz="900">
                <a:solidFill>
                  <a:srgbClr val="1A202C"/>
                </a:solidFill>
                <a:latin typeface="Helvetica"/>
              </a:defRPr>
            </a:pPr>
            <a:r>
              <a:t>CDRs and bank sheets live in separate siloes. Requires manual data sorting, taking days to find links.</a:t>
            </a:r>
          </a:p>
          <a:p>
            <a:pPr>
              <a:defRPr sz="1000">
                <a:solidFill>
                  <a:srgbClr val="2B6CB0"/>
                </a:solidFill>
                <a:latin typeface="Helvetica"/>
              </a:defRPr>
            </a:pPr>
            <a:r>
              <a:t>&lt;b&gt;🏢  Enterprise Tools (IBM i2 / Palantir)&lt;/b&gt;</a:t>
            </a:r>
          </a:p>
          <a:p>
            <a:pPr>
              <a:spcAft>
                <a:spcPts val="600"/>
              </a:spcAft>
              <a:defRPr sz="900">
                <a:solidFill>
                  <a:srgbClr val="1A202C"/>
                </a:solidFill>
                <a:latin typeface="Helvetica"/>
              </a:defRPr>
            </a:pPr>
            <a:r>
              <a:t>Extremely expensive licensing, steep learning curve, requires heavy database servers, and lacks regional Indian language support.</a:t>
            </a:r>
          </a:p>
          <a:p>
            <a:pPr>
              <a:defRPr sz="1000">
                <a:solidFill>
                  <a:srgbClr val="2B6CB0"/>
                </a:solidFill>
                <a:latin typeface="Helvetica"/>
              </a:defRPr>
            </a:pPr>
            <a:r>
              <a:t>&lt;b&gt;🛡️  Sentinel Link (Our Solution)&lt;/b&gt;</a:t>
            </a:r>
          </a:p>
          <a:p>
            <a:pPr>
              <a:spcAft>
                <a:spcPts val="600"/>
              </a:spcAft>
              <a:defRPr sz="900">
                <a:solidFill>
                  <a:srgbClr val="1A202C"/>
                </a:solidFill>
                <a:latin typeface="Helvetica"/>
              </a:defRPr>
            </a:pPr>
            <a:r>
              <a:t>100% free/open-source, auto-parses files via AI, translates regional Indian languages, and offers zero-setup local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_8.png"/>
          <p:cNvPicPr>
            <a:picLocks noChangeAspect="1"/>
          </p:cNvPicPr>
          <p:nvPr/>
        </p:nvPicPr>
        <p:blipFill>
          <a:blip r:embed="rId2"/>
          <a:stretch>
            <a:fillRect/>
          </a:stretch>
        </p:blipFill>
        <p:spPr>
          <a:xfrm>
            <a:off x="0" y="0"/>
            <a:ext cx="12188952" cy="6858000"/>
          </a:xfrm>
          <a:prstGeom prst="rect">
            <a:avLst/>
          </a:prstGeom>
        </p:spPr>
      </p:pic>
      <p:sp>
        <p:nvSpPr>
          <p:cNvPr id="3" name="Rounded Rectangle 2"/>
          <p:cNvSpPr/>
          <p:nvPr/>
        </p:nvSpPr>
        <p:spPr>
          <a:xfrm>
            <a:off x="73152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3931920"/>
          </a:xfrm>
          <a:prstGeom prst="rect">
            <a:avLst/>
          </a:prstGeom>
          <a:noFill/>
        </p:spPr>
        <p:txBody>
          <a:bodyPr wrap="square" lIns="0" rIns="0" tIns="0" bIns="0">
            <a:spAutoFit/>
          </a:bodyPr>
          <a:lstStyle/>
          <a:p>
            <a:pPr>
              <a:spcAft>
                <a:spcPts val="1000"/>
              </a:spcAft>
              <a:defRPr sz="1100" b="1">
                <a:solidFill>
                  <a:srgbClr val="2B6CB0"/>
                </a:solidFill>
                <a:latin typeface="Helvetica"/>
              </a:defRPr>
            </a:pPr>
            <a:r>
              <a:t>RESEARCH &amp; ACADEMIC REFERENCE WORK</a:t>
            </a:r>
          </a:p>
          <a:p>
            <a:pPr>
              <a:spcAft>
                <a:spcPts val="1000"/>
              </a:spcAft>
              <a:defRPr sz="950">
                <a:solidFill>
                  <a:srgbClr val="1A202C"/>
                </a:solidFill>
                <a:latin typeface="Helvetica"/>
              </a:defRPr>
            </a:pPr>
            <a:r>
              <a:t>1. &lt;b&gt;Graph-Based Link Analysis in Criminal Investigations:&lt;/b&gt; Core algorithms for Social Network Analysis (SNA) mapping gang structures.</a:t>
            </a:r>
          </a:p>
          <a:p>
            <a:pPr>
              <a:spcAft>
                <a:spcPts val="1000"/>
              </a:spcAft>
              <a:defRPr sz="950">
                <a:solidFill>
                  <a:srgbClr val="1A202C"/>
                </a:solidFill>
                <a:latin typeface="Helvetica"/>
              </a:defRPr>
            </a:pPr>
            <a:r>
              <a:t>2. &lt;b&gt;Named Entity Recognition (NER) on Police Case Diaries:&lt;/b&gt; Training custom spaCy pipelines to identify crime entities.</a:t>
            </a:r>
          </a:p>
          <a:p>
            <a:pPr>
              <a:spcAft>
                <a:spcPts val="1000"/>
              </a:spcAft>
              <a:defRPr sz="950">
                <a:solidFill>
                  <a:srgbClr val="1A202C"/>
                </a:solidFill>
                <a:latin typeface="Helvetica"/>
              </a:defRPr>
            </a:pPr>
            <a:r>
              <a:t>3. &lt;b&gt;Dijkstra Pathfinding on Transaction Networks:&lt;/b&gt; Research modeling money-laundering loops and financial flow routing.</a:t>
            </a:r>
          </a:p>
        </p:txBody>
      </p:sp>
      <p:sp>
        <p:nvSpPr>
          <p:cNvPr id="5" name="Rounded Rectangle 4"/>
          <p:cNvSpPr/>
          <p:nvPr/>
        </p:nvSpPr>
        <p:spPr>
          <a:xfrm>
            <a:off x="6309360" y="1645920"/>
            <a:ext cx="5120640" cy="4297680"/>
          </a:xfrm>
          <a:prstGeom prst="roundRect">
            <a:avLst/>
          </a:prstGeom>
          <a:solidFill>
            <a:srgbClr val="F7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828800"/>
            <a:ext cx="4754880" cy="3931920"/>
          </a:xfrm>
          <a:prstGeom prst="rect">
            <a:avLst/>
          </a:prstGeom>
          <a:noFill/>
        </p:spPr>
        <p:txBody>
          <a:bodyPr wrap="square" lIns="0" rIns="0" tIns="0" bIns="0">
            <a:spAutoFit/>
          </a:bodyPr>
          <a:lstStyle/>
          <a:p>
            <a:pPr>
              <a:spcAft>
                <a:spcPts val="1200"/>
              </a:spcAft>
              <a:defRPr sz="1100" b="1">
                <a:solidFill>
                  <a:srgbClr val="2B6CB0"/>
                </a:solidFill>
                <a:latin typeface="Helvetica"/>
              </a:defRPr>
            </a:pPr>
            <a:r>
              <a:t>PROTOTYPE CODE &amp; LIVE DEMO</a:t>
            </a:r>
          </a:p>
          <a:p>
            <a:pPr>
              <a:spcAft>
                <a:spcPts val="1200"/>
              </a:spcAft>
              <a:defRPr sz="1000">
                <a:solidFill>
                  <a:srgbClr val="1A202C"/>
                </a:solidFill>
                <a:latin typeface="Helvetica"/>
              </a:defRPr>
            </a:pPr>
            <a:r>
              <a:t>&lt;b&gt;💻  GitHub Repository:&lt;/b&gt;</a:t>
            </a:r>
            <a:br/>
            <a:r>
              <a:t>&lt;u&gt;github.com/apexlogic/sentinel-link&lt;/u&gt;</a:t>
            </a:r>
            <a:br/>
            <a:r>
              <a:t>Contains code for FastAPI, React client UI, and NLP extraction modules.</a:t>
            </a:r>
          </a:p>
          <a:p>
            <a:pPr>
              <a:spcAft>
                <a:spcPts val="1200"/>
              </a:spcAft>
              <a:defRPr sz="1000">
                <a:solidFill>
                  <a:srgbClr val="1A202C"/>
                </a:solidFill>
                <a:latin typeface="Helvetica"/>
              </a:defRPr>
            </a:pPr>
            <a:r>
              <a:t>&lt;b&gt;🌐  Interactive Web Demo:&lt;/b&gt;</a:t>
            </a:r>
            <a:br/>
            <a:r>
              <a:t>&lt;u&gt;apexlogic.tech/sentinel-link&lt;/u&gt;</a:t>
            </a:r>
            <a:br/>
            <a:r>
              <a:t>A running prototype displaying mock cases and call graphs.</a:t>
            </a:r>
          </a:p>
          <a:p>
            <a:pPr>
              <a:defRPr sz="1000">
                <a:solidFill>
                  <a:srgbClr val="1A202C"/>
                </a:solidFill>
                <a:latin typeface="Helvetica"/>
              </a:defRPr>
            </a:pPr>
            <a:r>
              <a:t>&lt;b&gt;✉️  Team Contact Email:&lt;/b&gt;</a:t>
            </a:r>
            <a:br/>
            <a:r>
              <a:t>&lt;u&gt;contact@apexlogic.tech&lt;/u&gt;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