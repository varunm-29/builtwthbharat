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1.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2998839" y="4795389"/>
            <a:ext cx="7772400" cy="320040"/>
          </a:xfrm>
          <a:prstGeom prst="rect">
            <a:avLst/>
          </a:prstGeom>
          <a:noFill/>
        </p:spPr>
        <p:txBody>
          <a:bodyPr wrap="square" lIns="0" tIns="0" rIns="0" bIns="0">
            <a:spAutoFit/>
          </a:bodyPr>
          <a:lstStyle/>
          <a:p>
            <a:pPr>
              <a:defRPr sz="1150" b="1">
                <a:solidFill>
                  <a:srgbClr val="1A365D"/>
                </a:solidFill>
                <a:latin typeface="Helvetica"/>
              </a:defRPr>
            </a:pPr>
            <a:r>
              <a:rPr dirty="0"/>
              <a:t>APEX LOGIC</a:t>
            </a:r>
          </a:p>
        </p:txBody>
      </p:sp>
      <p:sp>
        <p:nvSpPr>
          <p:cNvPr id="4" name="TextBox 3"/>
          <p:cNvSpPr txBox="1"/>
          <p:nvPr/>
        </p:nvSpPr>
        <p:spPr>
          <a:xfrm>
            <a:off x="4395299" y="5152005"/>
            <a:ext cx="7772400" cy="320040"/>
          </a:xfrm>
          <a:prstGeom prst="rect">
            <a:avLst/>
          </a:prstGeom>
          <a:noFill/>
        </p:spPr>
        <p:txBody>
          <a:bodyPr wrap="square" lIns="0" tIns="0" rIns="0" bIns="0">
            <a:spAutoFit/>
          </a:bodyPr>
          <a:lstStyle/>
          <a:p>
            <a:pPr>
              <a:defRPr sz="1150" b="1">
                <a:solidFill>
                  <a:srgbClr val="1A365D"/>
                </a:solidFill>
                <a:latin typeface="Helvetica"/>
              </a:defRPr>
            </a:pPr>
            <a:r>
              <a:rPr dirty="0"/>
              <a:t>SIH26189 - AI-Powered Criminal Network Analysis System</a:t>
            </a:r>
          </a:p>
        </p:txBody>
      </p:sp>
      <p:sp>
        <p:nvSpPr>
          <p:cNvPr id="5" name="TextBox 4"/>
          <p:cNvSpPr txBox="1"/>
          <p:nvPr/>
        </p:nvSpPr>
        <p:spPr>
          <a:xfrm>
            <a:off x="3657600" y="5582412"/>
            <a:ext cx="7772400" cy="320040"/>
          </a:xfrm>
          <a:prstGeom prst="rect">
            <a:avLst/>
          </a:prstGeom>
          <a:noFill/>
        </p:spPr>
        <p:txBody>
          <a:bodyPr wrap="square" lIns="0" tIns="0" rIns="0" bIns="0">
            <a:spAutoFit/>
          </a:bodyPr>
          <a:lstStyle/>
          <a:p>
            <a:pPr>
              <a:defRPr sz="1150" b="1">
                <a:solidFill>
                  <a:srgbClr val="1A365D"/>
                </a:solidFill>
                <a:latin typeface="Helvetica"/>
              </a:defRPr>
            </a:pPr>
            <a:r>
              <a:rPr dirty="0"/>
              <a:t>Vansh </a:t>
            </a:r>
            <a:r>
              <a:rPr dirty="0" err="1"/>
              <a:t>Sirohi</a:t>
            </a:r>
            <a:r>
              <a:rPr dirty="0"/>
              <a:t> (L), Varun Mishra, Vaibhav Thakur, Soumya Verma, Utkarsh Sharma</a:t>
            </a:r>
          </a:p>
        </p:txBody>
      </p:sp>
      <p:sp>
        <p:nvSpPr>
          <p:cNvPr id="6" name="TextBox 5"/>
          <p:cNvSpPr txBox="1"/>
          <p:nvPr/>
        </p:nvSpPr>
        <p:spPr>
          <a:xfrm>
            <a:off x="2477729" y="5975604"/>
            <a:ext cx="7772400" cy="320040"/>
          </a:xfrm>
          <a:prstGeom prst="rect">
            <a:avLst/>
          </a:prstGeom>
          <a:noFill/>
        </p:spPr>
        <p:txBody>
          <a:bodyPr wrap="square" lIns="0" tIns="0" rIns="0" bIns="0">
            <a:spAutoFit/>
          </a:bodyPr>
          <a:lstStyle/>
          <a:p>
            <a:pPr>
              <a:defRPr sz="1150" b="1">
                <a:solidFill>
                  <a:srgbClr val="1A365D"/>
                </a:solidFill>
                <a:latin typeface="Helvetica"/>
              </a:defRPr>
            </a:pPr>
            <a:r>
              <a:t>ABES Engineering College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2.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911391"/>
            <a:ext cx="5120640" cy="4297680"/>
          </a:xfrm>
          <a:prstGeom prst="rect">
            <a:avLst/>
          </a:prstGeom>
          <a:noFill/>
        </p:spPr>
        <p:txBody>
          <a:bodyPr wrap="square" lIns="0" tIns="0" rIns="0" bIns="0">
            <a:spAutoFit/>
          </a:bodyPr>
          <a:lstStyle/>
          <a:p>
            <a:pPr>
              <a:spcAft>
                <a:spcPts val="1000"/>
              </a:spcAft>
              <a:defRPr sz="1200" b="1">
                <a:solidFill>
                  <a:srgbClr val="1A365D"/>
                </a:solidFill>
              </a:defRPr>
            </a:pPr>
            <a:r>
              <a:t>CORE CHALLENGE: SILOED &amp; UNSTRUCTURED DATA</a:t>
            </a:r>
          </a:p>
          <a:p>
            <a:pPr>
              <a:spcAft>
                <a:spcPts val="1500"/>
              </a:spcAft>
              <a:defRPr sz="1000">
                <a:solidFill>
                  <a:srgbClr val="2D3748"/>
                </a:solidFill>
              </a:defRPr>
            </a:pPr>
            <a:r>
              <a:t>As cyber financial frauds escalate across India, local law enforcement agencies face severe delays in investigations due to the fragmented nature of case files. Call Detail Records (CDRs), bank transaction logs, and First Information Reports (FIRs) reside in disjointed files and local languages.</a:t>
            </a:r>
          </a:p>
          <a:p>
            <a:pPr>
              <a:spcAft>
                <a:spcPts val="800"/>
              </a:spcAft>
              <a:defRPr sz="1200" b="1">
                <a:solidFill>
                  <a:srgbClr val="1A365D"/>
                </a:solidFill>
              </a:defRPr>
            </a:pPr>
            <a:r>
              <a:t>WHY APEX LOGIC CHOSE THIS?</a:t>
            </a:r>
          </a:p>
          <a:p>
            <a:pPr>
              <a:defRPr sz="1000">
                <a:solidFill>
                  <a:srgbClr val="718096"/>
                </a:solidFill>
              </a:defRPr>
            </a:pPr>
            <a:r>
              <a:t>Manual analysis of CDR excels and narrative case files is slow and prone to human errors. Syndicate leaders hide behind multiple hops of calls and bank accounts. We chose this problem to build a unified visual portal that parses files automatically, linking telecom and financial trails in minutes to accelerate police response.</a:t>
            </a:r>
          </a:p>
        </p:txBody>
      </p:sp>
      <p:sp>
        <p:nvSpPr>
          <p:cNvPr id="4" name="TextBox 3"/>
          <p:cNvSpPr txBox="1"/>
          <p:nvPr/>
        </p:nvSpPr>
        <p:spPr>
          <a:xfrm>
            <a:off x="6336666" y="1911391"/>
            <a:ext cx="5120640" cy="4297680"/>
          </a:xfrm>
          <a:prstGeom prst="rect">
            <a:avLst/>
          </a:prstGeom>
          <a:noFill/>
        </p:spPr>
        <p:txBody>
          <a:bodyPr wrap="square" lIns="0" tIns="0" rIns="0" bIns="0">
            <a:spAutoFit/>
          </a:bodyPr>
          <a:lstStyle/>
          <a:p>
            <a:pPr>
              <a:defRPr sz="1200" b="1">
                <a:solidFill>
                  <a:srgbClr val="1A365D"/>
                </a:solidFill>
              </a:defRPr>
            </a:pPr>
            <a:r>
              <a:rPr dirty="0"/>
              <a:t>🚨  Data Siloing</a:t>
            </a:r>
          </a:p>
          <a:p>
            <a:pPr>
              <a:spcBef>
                <a:spcPts val="300"/>
              </a:spcBef>
              <a:spcAft>
                <a:spcPts val="1000"/>
              </a:spcAft>
              <a:defRPr sz="950">
                <a:solidFill>
                  <a:srgbClr val="2D3748"/>
                </a:solidFill>
              </a:defRPr>
            </a:pPr>
            <a:r>
              <a:rPr dirty="0"/>
              <a:t>Telecom logs (CDRs), financial transactions, and case narrative documents are processed in isolation, making cross-modal links invisible.</a:t>
            </a:r>
          </a:p>
          <a:p>
            <a:pPr>
              <a:spcBef>
                <a:spcPts val="1000"/>
              </a:spcBef>
              <a:defRPr sz="1200" b="1">
                <a:solidFill>
                  <a:srgbClr val="1A365D"/>
                </a:solidFill>
              </a:defRPr>
            </a:pPr>
            <a:r>
              <a:rPr dirty="0"/>
              <a:t>📄  Unstructured Narratives</a:t>
            </a:r>
          </a:p>
          <a:p>
            <a:pPr>
              <a:spcBef>
                <a:spcPts val="300"/>
              </a:spcBef>
              <a:spcAft>
                <a:spcPts val="1000"/>
              </a:spcAft>
              <a:defRPr sz="950">
                <a:solidFill>
                  <a:srgbClr val="2D3748"/>
                </a:solidFill>
              </a:defRPr>
            </a:pPr>
            <a:r>
              <a:rPr dirty="0"/>
              <a:t>Valuable suspect details and names are locked in narrative text (FIRs) written in regional Indian languages, requiring translation.</a:t>
            </a:r>
          </a:p>
          <a:p>
            <a:pPr>
              <a:spcBef>
                <a:spcPts val="1000"/>
              </a:spcBef>
              <a:defRPr sz="1200" b="1">
                <a:solidFill>
                  <a:srgbClr val="1A365D"/>
                </a:solidFill>
              </a:defRPr>
            </a:pPr>
            <a:r>
              <a:rPr dirty="0"/>
              <a:t>👥  Syndicate Obfuscation</a:t>
            </a:r>
          </a:p>
          <a:p>
            <a:pPr>
              <a:spcBef>
                <a:spcPts val="300"/>
              </a:spcBef>
              <a:spcAft>
                <a:spcPts val="1000"/>
              </a:spcAft>
              <a:defRPr sz="950">
                <a:solidFill>
                  <a:srgbClr val="2D3748"/>
                </a:solidFill>
              </a:defRPr>
            </a:pPr>
            <a:r>
              <a:rPr dirty="0"/>
              <a:t>Fraud ringleaders hide behind multi-hop calls and shell accounts, requiring graph network analytics to trace them mathematically.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3.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891726"/>
            <a:ext cx="5120640" cy="4297680"/>
          </a:xfrm>
          <a:prstGeom prst="rect">
            <a:avLst/>
          </a:prstGeom>
          <a:noFill/>
        </p:spPr>
        <p:txBody>
          <a:bodyPr wrap="square" lIns="0" tIns="0" rIns="0" bIns="0">
            <a:spAutoFit/>
          </a:bodyPr>
          <a:lstStyle/>
          <a:p>
            <a:pPr>
              <a:spcAft>
                <a:spcPts val="1000"/>
              </a:spcAft>
              <a:defRPr sz="1200" b="1">
                <a:solidFill>
                  <a:srgbClr val="1A365D"/>
                </a:solidFill>
              </a:defRPr>
            </a:pPr>
            <a:r>
              <a:t>PROPOSED SOLUTION: SENTINEL LINK</a:t>
            </a:r>
          </a:p>
          <a:p>
            <a:pPr>
              <a:spcAft>
                <a:spcPts val="1500"/>
              </a:spcAft>
              <a:defRPr sz="1000">
                <a:solidFill>
                  <a:srgbClr val="2D3748"/>
                </a:solidFill>
              </a:defRPr>
            </a:pPr>
            <a:r>
              <a:t>Sentinel Link is a lightweight, AI-powered link-analysis and graph intelligence dashboard built for cyber crime cells. The system ingests raw narrative case files, phone call sheets, and bank transaction statements. It extracts entities, translates regional language case text, resolves suspect aliases, and builds a unified relational graph.</a:t>
            </a:r>
          </a:p>
          <a:p>
            <a:pPr>
              <a:spcAft>
                <a:spcPts val="800"/>
              </a:spcAft>
              <a:defRPr sz="1200" b="1">
                <a:solidFill>
                  <a:srgbClr val="1A365D"/>
                </a:solidFill>
              </a:defRPr>
            </a:pPr>
            <a:r>
              <a:t>HOW DO WE MAKE IT?</a:t>
            </a:r>
          </a:p>
          <a:p>
            <a:pPr>
              <a:defRPr sz="1000">
                <a:solidFill>
                  <a:srgbClr val="718096"/>
                </a:solidFill>
              </a:defRPr>
            </a:pPr>
            <a:r>
              <a:t>We will construct the system using a python backend (FastAPI) and a React/Tailwind frontend. The backend parses texts via spaCy, models relations via NetworkX/Neo4j, and calculates PageRank centrality to highlight syndicate leaders. The frontend renders dynamic, interactive visual node graphs using Vis.js.</a:t>
            </a:r>
          </a:p>
        </p:txBody>
      </p:sp>
      <p:sp>
        <p:nvSpPr>
          <p:cNvPr id="4" name="TextBox 3"/>
          <p:cNvSpPr txBox="1"/>
          <p:nvPr/>
        </p:nvSpPr>
        <p:spPr>
          <a:xfrm>
            <a:off x="6336666" y="1891726"/>
            <a:ext cx="5120640" cy="4297680"/>
          </a:xfrm>
          <a:prstGeom prst="rect">
            <a:avLst/>
          </a:prstGeom>
          <a:noFill/>
        </p:spPr>
        <p:txBody>
          <a:bodyPr wrap="square" lIns="0" tIns="0" rIns="0" bIns="0">
            <a:spAutoFit/>
          </a:bodyPr>
          <a:lstStyle/>
          <a:p>
            <a:pPr>
              <a:defRPr sz="1200" b="1">
                <a:solidFill>
                  <a:srgbClr val="1A365D"/>
                </a:solidFill>
              </a:defRPr>
            </a:pPr>
            <a:r>
              <a:t>🔮  AI Ingestion &amp; Translation</a:t>
            </a:r>
          </a:p>
          <a:p>
            <a:pPr>
              <a:spcBef>
                <a:spcPts val="300"/>
              </a:spcBef>
              <a:spcAft>
                <a:spcPts val="1000"/>
              </a:spcAft>
              <a:defRPr sz="950">
                <a:solidFill>
                  <a:srgbClr val="2D3748"/>
                </a:solidFill>
              </a:defRPr>
            </a:pPr>
            <a:r>
              <a:t>Automatically extracts entities (suspects, phone numbers, locations) from case texts and translates regional dialects into English.</a:t>
            </a:r>
          </a:p>
          <a:p>
            <a:pPr>
              <a:spcBef>
                <a:spcPts val="1000"/>
              </a:spcBef>
              <a:defRPr sz="1200" b="1">
                <a:solidFill>
                  <a:srgbClr val="1A365D"/>
                </a:solidFill>
              </a:defRPr>
            </a:pPr>
            <a:r>
              <a:t>⚠️  Graph Entity Resolution</a:t>
            </a:r>
          </a:p>
          <a:p>
            <a:pPr>
              <a:spcBef>
                <a:spcPts val="300"/>
              </a:spcBef>
              <a:spcAft>
                <a:spcPts val="1000"/>
              </a:spcAft>
              <a:defRPr sz="950">
                <a:solidFill>
                  <a:srgbClr val="2D3748"/>
                </a:solidFill>
              </a:defRPr>
            </a:pPr>
            <a:r>
              <a:t>Resolves and merges matching identities, phone numbers, and bank account profiles across disjointed files into one clean network.</a:t>
            </a:r>
          </a:p>
          <a:p>
            <a:pPr>
              <a:spcBef>
                <a:spcPts val="1000"/>
              </a:spcBef>
              <a:defRPr sz="1200" b="1">
                <a:solidFill>
                  <a:srgbClr val="1A365D"/>
                </a:solidFill>
              </a:defRPr>
            </a:pPr>
            <a:r>
              <a:t>📊  Graph Network Analytics</a:t>
            </a:r>
          </a:p>
          <a:p>
            <a:pPr>
              <a:spcBef>
                <a:spcPts val="300"/>
              </a:spcBef>
              <a:spcAft>
                <a:spcPts val="1000"/>
              </a:spcAft>
              <a:defRPr sz="950">
                <a:solidFill>
                  <a:srgbClr val="2D3748"/>
                </a:solidFill>
              </a:defRPr>
            </a:pPr>
            <a:r>
              <a:t>PageRank centrality identifies key syndicate ringleaders, and Dijkstra shortest-path calculates transit routes and cash-laundering trails.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4.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940887"/>
            <a:ext cx="5120640" cy="4297680"/>
          </a:xfrm>
          <a:prstGeom prst="rect">
            <a:avLst/>
          </a:prstGeom>
          <a:noFill/>
        </p:spPr>
        <p:txBody>
          <a:bodyPr wrap="square" lIns="0" tIns="0" rIns="0" bIns="0">
            <a:spAutoFit/>
          </a:bodyPr>
          <a:lstStyle/>
          <a:p>
            <a:pPr>
              <a:spcAft>
                <a:spcPts val="1000"/>
              </a:spcAft>
              <a:defRPr sz="1200" b="1">
                <a:solidFill>
                  <a:srgbClr val="1A365D"/>
                </a:solidFill>
              </a:defRPr>
            </a:pPr>
            <a:r>
              <a:t>CORE DATA WORKFLOW STEPS</a:t>
            </a:r>
          </a:p>
          <a:p>
            <a:pPr>
              <a:spcAft>
                <a:spcPts val="600"/>
              </a:spcAft>
              <a:defRPr sz="950">
                <a:solidFill>
                  <a:srgbClr val="2D3748"/>
                </a:solidFill>
              </a:defRPr>
            </a:pPr>
            <a:r>
              <a:t>&lt;b&gt;1. Upload:&lt;/b&gt; Investigator uploads raw, multi-format files (PDF narrative FIRs, CDR CSV phone logs, bank statement Excels) into the dashboard.</a:t>
            </a:r>
          </a:p>
          <a:p>
            <a:pPr>
              <a:spcAft>
                <a:spcPts val="600"/>
              </a:spcAft>
              <a:defRPr sz="950">
                <a:solidFill>
                  <a:srgbClr val="2D3748"/>
                </a:solidFill>
              </a:defRPr>
            </a:pPr>
            <a:r>
              <a:t>&lt;b&gt;2. NLP Parsing:&lt;/b&gt; Python spacy models parse raw case files, extract suspect entities, and translate local-language reports.</a:t>
            </a:r>
          </a:p>
          <a:p>
            <a:pPr>
              <a:spcAft>
                <a:spcPts val="600"/>
              </a:spcAft>
              <a:defRPr sz="950">
                <a:solidFill>
                  <a:srgbClr val="2D3748"/>
                </a:solidFill>
              </a:defRPr>
            </a:pPr>
            <a:r>
              <a:t>&lt;b&gt;3. Graph Indexing:&lt;/b&gt; Unique nodes (Suspect, Phone, Bank Account) are resolved and relationships are saved in Neo4j/SQLite.</a:t>
            </a:r>
          </a:p>
          <a:p>
            <a:pPr>
              <a:spcAft>
                <a:spcPts val="600"/>
              </a:spcAft>
              <a:defRPr sz="950">
                <a:solidFill>
                  <a:srgbClr val="2D3748"/>
                </a:solidFill>
              </a:defRPr>
            </a:pPr>
            <a:r>
              <a:t>&lt;b&gt;4. Analytics Trigger:&lt;/b&gt; Backend computes graph algorithms (PageRank, Shortest Path) on the network in milliseconds.</a:t>
            </a:r>
          </a:p>
          <a:p>
            <a:pPr>
              <a:spcAft>
                <a:spcPts val="600"/>
              </a:spcAft>
              <a:defRPr sz="950">
                <a:solidFill>
                  <a:srgbClr val="2D3748"/>
                </a:solidFill>
              </a:defRPr>
            </a:pPr>
            <a:r>
              <a:t>&lt;b&gt;5. Vis.js Render:&lt;/b&gt; Vis.js renders the physics-simulated node map with draggable nodes, highlight trails, and a timeline history slider.</a:t>
            </a:r>
          </a:p>
        </p:txBody>
      </p:sp>
      <p:sp>
        <p:nvSpPr>
          <p:cNvPr id="4" name="TextBox 3"/>
          <p:cNvSpPr txBox="1"/>
          <p:nvPr/>
        </p:nvSpPr>
        <p:spPr>
          <a:xfrm>
            <a:off x="6309360" y="1940887"/>
            <a:ext cx="5120640" cy="4297680"/>
          </a:xfrm>
          <a:prstGeom prst="rect">
            <a:avLst/>
          </a:prstGeom>
          <a:noFill/>
        </p:spPr>
        <p:txBody>
          <a:bodyPr wrap="square" lIns="0" tIns="0" rIns="0" bIns="0">
            <a:spAutoFit/>
          </a:bodyPr>
          <a:lstStyle/>
          <a:p>
            <a:pPr>
              <a:spcAft>
                <a:spcPts val="1000"/>
              </a:spcAft>
              <a:defRPr sz="1200" b="1">
                <a:solidFill>
                  <a:srgbClr val="1A365D"/>
                </a:solidFill>
              </a:defRPr>
            </a:pPr>
            <a:r>
              <a:rPr dirty="0"/>
              <a:t>SYSTEM ARCHITECTURE &amp; INTEGRATION</a:t>
            </a:r>
          </a:p>
          <a:p>
            <a:pPr>
              <a:defRPr sz="1100" b="1">
                <a:solidFill>
                  <a:srgbClr val="1A365D"/>
                </a:solidFill>
              </a:defRPr>
            </a:pPr>
            <a:r>
              <a:rPr dirty="0"/>
              <a:t>Frontend Layer (Client UI)</a:t>
            </a:r>
          </a:p>
          <a:p>
            <a:pPr>
              <a:spcBef>
                <a:spcPts val="200"/>
              </a:spcBef>
              <a:spcAft>
                <a:spcPts val="800"/>
              </a:spcAft>
              <a:defRPr sz="950">
                <a:solidFill>
                  <a:srgbClr val="2D3748"/>
                </a:solidFill>
              </a:defRPr>
            </a:pPr>
            <a:r>
              <a:rPr dirty="0"/>
              <a:t>React + Tailwind CSS. Integrates a Vis.js Canvas module for drawing the graph network and Axios for communicating with the APIs.</a:t>
            </a:r>
          </a:p>
          <a:p>
            <a:pPr>
              <a:defRPr sz="1100" b="1">
                <a:solidFill>
                  <a:srgbClr val="1A365D"/>
                </a:solidFill>
              </a:defRPr>
            </a:pPr>
            <a:r>
              <a:rPr dirty="0"/>
              <a:t>Backend Orchestration Layer</a:t>
            </a:r>
          </a:p>
          <a:p>
            <a:pPr>
              <a:spcBef>
                <a:spcPts val="200"/>
              </a:spcBef>
              <a:spcAft>
                <a:spcPts val="800"/>
              </a:spcAft>
              <a:defRPr sz="950">
                <a:solidFill>
                  <a:srgbClr val="2D3748"/>
                </a:solidFill>
              </a:defRPr>
            </a:pPr>
            <a:r>
              <a:rPr dirty="0" err="1"/>
              <a:t>FastAPI</a:t>
            </a:r>
            <a:r>
              <a:rPr dirty="0"/>
              <a:t> (Python) serves API endpoints: &lt;code&gt;/</a:t>
            </a:r>
            <a:r>
              <a:rPr dirty="0" err="1"/>
              <a:t>api</a:t>
            </a:r>
            <a:r>
              <a:rPr dirty="0"/>
              <a:t>/ingest&lt;/code&gt; (to parse case text files) and &lt;code&gt;/</a:t>
            </a:r>
            <a:r>
              <a:rPr dirty="0" err="1"/>
              <a:t>api</a:t>
            </a:r>
            <a:r>
              <a:rPr dirty="0"/>
              <a:t>/graph&lt;/code&gt; (to fetch the node-edge JSON structures).</a:t>
            </a:r>
          </a:p>
          <a:p>
            <a:pPr>
              <a:defRPr sz="1100" b="1">
                <a:solidFill>
                  <a:srgbClr val="1A365D"/>
                </a:solidFill>
              </a:defRPr>
            </a:pPr>
            <a:r>
              <a:rPr dirty="0"/>
              <a:t>Graph Ingestion Engine</a:t>
            </a:r>
          </a:p>
          <a:p>
            <a:pPr>
              <a:spcBef>
                <a:spcPts val="200"/>
              </a:spcBef>
              <a:spcAft>
                <a:spcPts val="800"/>
              </a:spcAft>
              <a:defRPr sz="950">
                <a:solidFill>
                  <a:srgbClr val="2D3748"/>
                </a:solidFill>
              </a:defRPr>
            </a:pPr>
            <a:r>
              <a:rPr dirty="0" err="1"/>
              <a:t>NetworkX</a:t>
            </a:r>
            <a:r>
              <a:rPr dirty="0"/>
              <a:t> / Neo4j database models the nodes (Suspect, Phone, Bank Account, Location) and runs graph algorithms dynamically.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5.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901559"/>
            <a:ext cx="5120640" cy="4297680"/>
          </a:xfrm>
          <a:prstGeom prst="rect">
            <a:avLst/>
          </a:prstGeom>
          <a:noFill/>
        </p:spPr>
        <p:txBody>
          <a:bodyPr wrap="square" lIns="0" tIns="0" rIns="0" bIns="0">
            <a:spAutoFit/>
          </a:bodyPr>
          <a:lstStyle/>
          <a:p>
            <a:pPr>
              <a:spcAft>
                <a:spcPts val="1000"/>
              </a:spcAft>
              <a:defRPr sz="1200" b="1">
                <a:solidFill>
                  <a:srgbClr val="1A365D"/>
                </a:solidFill>
              </a:defRPr>
            </a:pPr>
            <a:r>
              <a:t>CORE COMPONENT TECH STACK</a:t>
            </a:r>
          </a:p>
          <a:p>
            <a:pPr>
              <a:spcAft>
                <a:spcPts val="600"/>
              </a:spcAft>
              <a:defRPr sz="950">
                <a:solidFill>
                  <a:srgbClr val="2D3748"/>
                </a:solidFill>
              </a:defRPr>
            </a:pPr>
            <a:r>
              <a:t>&lt;b&gt;🖥️  Frontend Framework:&lt;/b&gt; React 18 + Vite, Tailwind CSS (for modern UI)</a:t>
            </a:r>
          </a:p>
          <a:p>
            <a:pPr>
              <a:spcAft>
                <a:spcPts val="600"/>
              </a:spcAft>
              <a:defRPr sz="950">
                <a:solidFill>
                  <a:srgbClr val="2D3748"/>
                </a:solidFill>
              </a:defRPr>
            </a:pPr>
            <a:r>
              <a:t>&lt;b&gt;🕸️  Graph Visual Library:&lt;/b&gt; Vis.js (handling spring-physics-based layouts)</a:t>
            </a:r>
          </a:p>
          <a:p>
            <a:pPr>
              <a:spcAft>
                <a:spcPts val="600"/>
              </a:spcAft>
              <a:defRPr sz="950">
                <a:solidFill>
                  <a:srgbClr val="2D3748"/>
                </a:solidFill>
              </a:defRPr>
            </a:pPr>
            <a:r>
              <a:t>&lt;b&gt;⚙️  Backend Framework:&lt;/b&gt; Python FastAPI, Uvicorn, Pydantic</a:t>
            </a:r>
          </a:p>
          <a:p>
            <a:pPr>
              <a:spcAft>
                <a:spcPts val="600"/>
              </a:spcAft>
              <a:defRPr sz="950">
                <a:solidFill>
                  <a:srgbClr val="2D3748"/>
                </a:solidFill>
              </a:defRPr>
            </a:pPr>
            <a:r>
              <a:t>&lt;b&gt;🤖  AI / NLP Engine:&lt;/b&gt; spaCy NLP (NER Models) + HuggingFace MarianMT</a:t>
            </a:r>
          </a:p>
          <a:p>
            <a:pPr>
              <a:spcAft>
                <a:spcPts val="600"/>
              </a:spcAft>
              <a:defRPr sz="950">
                <a:solidFill>
                  <a:srgbClr val="2D3748"/>
                </a:solidFill>
              </a:defRPr>
            </a:pPr>
            <a:r>
              <a:t>&lt;b&gt;🗄️  Graph Database:&lt;/b&gt; NetworkX / Neo4j Graph DB</a:t>
            </a:r>
          </a:p>
          <a:p>
            <a:pPr>
              <a:spcAft>
                <a:spcPts val="600"/>
              </a:spcAft>
              <a:defRPr sz="950">
                <a:solidFill>
                  <a:srgbClr val="2D3748"/>
                </a:solidFill>
              </a:defRPr>
            </a:pPr>
            <a:r>
              <a:t>&lt;b&gt;💾  Relational Database:&lt;/b&gt; SQLite / PostgreSQL (user logs and reports)</a:t>
            </a:r>
          </a:p>
        </p:txBody>
      </p:sp>
      <p:sp>
        <p:nvSpPr>
          <p:cNvPr id="4" name="TextBox 3"/>
          <p:cNvSpPr txBox="1"/>
          <p:nvPr/>
        </p:nvSpPr>
        <p:spPr>
          <a:xfrm>
            <a:off x="6336665" y="1901559"/>
            <a:ext cx="5120640" cy="4297680"/>
          </a:xfrm>
          <a:prstGeom prst="rect">
            <a:avLst/>
          </a:prstGeom>
          <a:noFill/>
        </p:spPr>
        <p:txBody>
          <a:bodyPr wrap="square" lIns="0" tIns="0" rIns="0" bIns="0">
            <a:spAutoFit/>
          </a:bodyPr>
          <a:lstStyle/>
          <a:p>
            <a:pPr>
              <a:spcAft>
                <a:spcPts val="1000"/>
              </a:spcAft>
              <a:defRPr sz="1200" b="1">
                <a:solidFill>
                  <a:srgbClr val="1A365D"/>
                </a:solidFill>
              </a:defRPr>
            </a:pPr>
            <a:r>
              <a:rPr dirty="0"/>
              <a:t>APIS, LIBRARIES &amp; DEPLOYMENT PLAN</a:t>
            </a:r>
          </a:p>
          <a:p>
            <a:pPr>
              <a:spcAft>
                <a:spcPts val="1200"/>
              </a:spcAft>
              <a:defRPr sz="950">
                <a:solidFill>
                  <a:srgbClr val="2D3748"/>
                </a:solidFill>
              </a:defRPr>
            </a:pPr>
            <a:r>
              <a:rPr dirty="0"/>
              <a:t>&lt;b&gt;Backend Libraries:&lt;/b&gt;</a:t>
            </a:r>
            <a:br>
              <a:rPr dirty="0"/>
            </a:br>
            <a:r>
              <a:rPr dirty="0" err="1"/>
              <a:t>spaCy</a:t>
            </a:r>
            <a:r>
              <a:rPr dirty="0"/>
              <a:t>-models, </a:t>
            </a:r>
            <a:r>
              <a:rPr dirty="0" err="1"/>
              <a:t>NetworkX</a:t>
            </a:r>
            <a:r>
              <a:rPr dirty="0"/>
              <a:t>, vis-</a:t>
            </a:r>
            <a:r>
              <a:rPr dirty="0" err="1"/>
              <a:t>js</a:t>
            </a:r>
            <a:r>
              <a:rPr dirty="0"/>
              <a:t>, </a:t>
            </a:r>
            <a:r>
              <a:rPr dirty="0" err="1"/>
              <a:t>fastapi</a:t>
            </a:r>
            <a:r>
              <a:rPr dirty="0"/>
              <a:t>, neo4j-driver, </a:t>
            </a:r>
            <a:r>
              <a:rPr dirty="0" err="1"/>
              <a:t>MarianMT</a:t>
            </a:r>
            <a:r>
              <a:rPr dirty="0"/>
              <a:t>-translator, react-router, SQLite3.</a:t>
            </a:r>
          </a:p>
          <a:p>
            <a:pPr>
              <a:defRPr sz="950">
                <a:solidFill>
                  <a:srgbClr val="2D3748"/>
                </a:solidFill>
              </a:defRPr>
            </a:pPr>
            <a:r>
              <a:rPr dirty="0"/>
              <a:t>&lt;b&gt;Deployment Strategy:&lt;/b&gt;</a:t>
            </a:r>
            <a:br>
              <a:rPr dirty="0"/>
            </a:br>
            <a:r>
              <a:rPr dirty="0"/>
              <a:t>• &lt;</a:t>
            </a:r>
            <a:r>
              <a:rPr dirty="0" err="1"/>
              <a:t>i</a:t>
            </a:r>
            <a:r>
              <a:rPr dirty="0"/>
              <a:t>&gt;Local (Zero-Setup):&lt;/</a:t>
            </a:r>
            <a:r>
              <a:rPr dirty="0" err="1"/>
              <a:t>i</a:t>
            </a:r>
            <a:r>
              <a:rPr dirty="0"/>
              <a:t>&gt; Packaged as a desktop installer or simple runnable batch script (run.bat) for zero-setup police computer deployment.</a:t>
            </a:r>
            <a:br>
              <a:rPr dirty="0"/>
            </a:br>
            <a:r>
              <a:rPr dirty="0"/>
              <a:t>• &lt;</a:t>
            </a:r>
            <a:r>
              <a:rPr dirty="0" err="1"/>
              <a:t>i</a:t>
            </a:r>
            <a:r>
              <a:rPr dirty="0"/>
              <a:t>&gt;Production:&lt;/</a:t>
            </a:r>
            <a:r>
              <a:rPr dirty="0" err="1"/>
              <a:t>i</a:t>
            </a:r>
            <a:r>
              <a:rPr dirty="0"/>
              <a:t>&gt; Frontend hosted on </a:t>
            </a:r>
            <a:r>
              <a:rPr dirty="0" err="1"/>
              <a:t>Vercel</a:t>
            </a:r>
            <a:r>
              <a:rPr dirty="0"/>
              <a:t> CDN, Backend deployed via Railway container, and Graph database persistent on Neo4j Aura Cloud.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6.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872062"/>
            <a:ext cx="5120640" cy="4297680"/>
          </a:xfrm>
          <a:prstGeom prst="rect">
            <a:avLst/>
          </a:prstGeom>
          <a:noFill/>
        </p:spPr>
        <p:txBody>
          <a:bodyPr wrap="square" lIns="0" tIns="0" rIns="0" bIns="0">
            <a:spAutoFit/>
          </a:bodyPr>
          <a:lstStyle/>
          <a:p>
            <a:pPr>
              <a:spcAft>
                <a:spcPts val="1000"/>
              </a:spcAft>
              <a:defRPr sz="1200" b="1">
                <a:solidFill>
                  <a:srgbClr val="1A365D"/>
                </a:solidFill>
              </a:defRPr>
            </a:pPr>
            <a:r>
              <a:t>CORE UNIQUE SELLING PROPOSITIONS</a:t>
            </a:r>
          </a:p>
          <a:p>
            <a:pPr>
              <a:defRPr sz="1100" b="1">
                <a:solidFill>
                  <a:srgbClr val="1A365D"/>
                </a:solidFill>
              </a:defRPr>
            </a:pPr>
            <a:r>
              <a:t>🔗  Cross-Modal Data Fusion</a:t>
            </a:r>
          </a:p>
          <a:p>
            <a:pPr>
              <a:spcBef>
                <a:spcPts val="200"/>
              </a:spcBef>
              <a:spcAft>
                <a:spcPts val="800"/>
              </a:spcAft>
              <a:defRPr sz="950">
                <a:solidFill>
                  <a:srgbClr val="2D3748"/>
                </a:solidFill>
              </a:defRPr>
            </a:pPr>
            <a:r>
              <a:t>Fuses telecom logs (CDRs), financial transaction sheets, and written case narrative texts (FIRs) into a single, unified database.</a:t>
            </a:r>
          </a:p>
          <a:p>
            <a:pPr>
              <a:defRPr sz="1100" b="1">
                <a:solidFill>
                  <a:srgbClr val="1A365D"/>
                </a:solidFill>
              </a:defRPr>
            </a:pPr>
            <a:r>
              <a:t>🗣️  Indian Vernacular Support</a:t>
            </a:r>
          </a:p>
          <a:p>
            <a:pPr>
              <a:spcBef>
                <a:spcPts val="200"/>
              </a:spcBef>
              <a:spcAft>
                <a:spcPts val="800"/>
              </a:spcAft>
              <a:defRPr sz="950">
                <a:solidFill>
                  <a:srgbClr val="2D3748"/>
                </a:solidFill>
              </a:defRPr>
            </a:pPr>
            <a:r>
              <a:t>Translates and transliterates regional Indian language case reports (e.g. Hindi, Hinglish) to extract standardized suspect entities.</a:t>
            </a:r>
          </a:p>
          <a:p>
            <a:pPr>
              <a:defRPr sz="1100" b="1">
                <a:solidFill>
                  <a:srgbClr val="1A365D"/>
                </a:solidFill>
              </a:defRPr>
            </a:pPr>
            <a:r>
              <a:t>📉  Zero-Setup Fallback DB</a:t>
            </a:r>
          </a:p>
          <a:p>
            <a:pPr>
              <a:spcBef>
                <a:spcPts val="200"/>
              </a:spcBef>
              <a:spcAft>
                <a:spcPts val="800"/>
              </a:spcAft>
              <a:defRPr sz="950">
                <a:solidFill>
                  <a:srgbClr val="2D3748"/>
                </a:solidFill>
              </a:defRPr>
            </a:pPr>
            <a:r>
              <a:t>Includes an in-memory graph model that automatically triggers if Neo4j is offline, ensuring a plug-and-play local station demo.</a:t>
            </a:r>
          </a:p>
        </p:txBody>
      </p:sp>
      <p:sp>
        <p:nvSpPr>
          <p:cNvPr id="4" name="TextBox 3"/>
          <p:cNvSpPr txBox="1"/>
          <p:nvPr/>
        </p:nvSpPr>
        <p:spPr>
          <a:xfrm>
            <a:off x="6309360" y="1872062"/>
            <a:ext cx="5120640" cy="4297680"/>
          </a:xfrm>
          <a:prstGeom prst="rect">
            <a:avLst/>
          </a:prstGeom>
          <a:noFill/>
        </p:spPr>
        <p:txBody>
          <a:bodyPr wrap="square" lIns="0" tIns="0" rIns="0" bIns="0">
            <a:spAutoFit/>
          </a:bodyPr>
          <a:lstStyle/>
          <a:p>
            <a:pPr>
              <a:spcAft>
                <a:spcPts val="1000"/>
              </a:spcAft>
              <a:defRPr sz="1200" b="1">
                <a:solidFill>
                  <a:srgbClr val="1A365D"/>
                </a:solidFill>
              </a:defRPr>
            </a:pPr>
            <a:r>
              <a:rPr dirty="0"/>
              <a:t>ADDITIONAL SYSTEM INNOVATIONS</a:t>
            </a:r>
          </a:p>
          <a:p>
            <a:pPr>
              <a:spcAft>
                <a:spcPts val="1200"/>
              </a:spcAft>
              <a:defRPr sz="950">
                <a:solidFill>
                  <a:srgbClr val="2D3748"/>
                </a:solidFill>
              </a:defRPr>
            </a:pPr>
            <a:r>
              <a:rPr dirty="0"/>
              <a:t>&lt;b&gt;⏳  Dynamic Temporal Network Slider:&lt;/b&gt;</a:t>
            </a:r>
            <a:br>
              <a:rPr dirty="0"/>
            </a:br>
            <a:r>
              <a:rPr dirty="0"/>
              <a:t>Visualizes connection history dynamically. Dragging a timeline slider shows the step-by-step evolution of the syndicate network chronologically, tracing who called whom first.</a:t>
            </a:r>
          </a:p>
          <a:p>
            <a:pPr>
              <a:defRPr sz="950">
                <a:solidFill>
                  <a:srgbClr val="2D3748"/>
                </a:solidFill>
              </a:defRPr>
            </a:pPr>
            <a:r>
              <a:rPr dirty="0"/>
              <a:t>&lt;b&gt;⚖️  Automated Risk Scoring:&lt;/b&gt;</a:t>
            </a:r>
            <a:br>
              <a:rPr dirty="0"/>
            </a:br>
            <a:r>
              <a:rPr dirty="0"/>
              <a:t>Calculates suspect risk metrics using degree centrality and transaction frequency, flagging high-risk nodes (kingpins) in red automatically.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7.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31520" y="1852397"/>
            <a:ext cx="5120640" cy="4297680"/>
          </a:xfrm>
          <a:prstGeom prst="rect">
            <a:avLst/>
          </a:prstGeom>
          <a:noFill/>
        </p:spPr>
        <p:txBody>
          <a:bodyPr wrap="square" lIns="0" tIns="0" rIns="0" bIns="0">
            <a:spAutoFit/>
          </a:bodyPr>
          <a:lstStyle/>
          <a:p>
            <a:pPr>
              <a:spcAft>
                <a:spcPts val="1000"/>
              </a:spcAft>
              <a:defRPr sz="1200" b="1">
                <a:solidFill>
                  <a:srgbClr val="1A365D"/>
                </a:solidFill>
              </a:defRPr>
            </a:pPr>
            <a:r>
              <a:rPr dirty="0"/>
              <a:t>FEASIBILITY &amp; PROJECT VIABILITY</a:t>
            </a:r>
          </a:p>
          <a:p>
            <a:pPr>
              <a:spcAft>
                <a:spcPts val="1000"/>
              </a:spcAft>
              <a:defRPr sz="950">
                <a:solidFill>
                  <a:srgbClr val="2D3748"/>
                </a:solidFill>
              </a:defRPr>
            </a:pPr>
            <a:r>
              <a:rPr dirty="0"/>
              <a:t>&lt;b&gt;Technical Feasibility: High&lt;/b&gt;</a:t>
            </a:r>
            <a:br>
              <a:rPr dirty="0"/>
            </a:br>
            <a:r>
              <a:rPr dirty="0"/>
              <a:t>Built using lightweight, open-source libraries (</a:t>
            </a:r>
            <a:r>
              <a:rPr dirty="0" err="1"/>
              <a:t>FastAPI</a:t>
            </a:r>
            <a:r>
              <a:rPr dirty="0"/>
              <a:t>, </a:t>
            </a:r>
            <a:r>
              <a:rPr dirty="0" err="1"/>
              <a:t>NetworkX</a:t>
            </a:r>
            <a:r>
              <a:rPr dirty="0"/>
              <a:t>, </a:t>
            </a:r>
            <a:r>
              <a:rPr dirty="0" err="1"/>
              <a:t>spaCy</a:t>
            </a:r>
            <a:r>
              <a:rPr dirty="0"/>
              <a:t>) that run efficiently on local computers without requiring high-end GPU servers.</a:t>
            </a:r>
          </a:p>
          <a:p>
            <a:pPr>
              <a:spcAft>
                <a:spcPts val="1000"/>
              </a:spcAft>
              <a:defRPr sz="950">
                <a:solidFill>
                  <a:srgbClr val="2D3748"/>
                </a:solidFill>
              </a:defRPr>
            </a:pPr>
            <a:r>
              <a:rPr dirty="0"/>
              <a:t>&lt;b&gt;Operational Viability: Excellent&lt;/b&gt;</a:t>
            </a:r>
            <a:br>
              <a:rPr dirty="0"/>
            </a:br>
            <a:r>
              <a:rPr dirty="0"/>
              <a:t>Fills a critical gap for cybercrime cells. The drag-and-drop ingestion reduces manual data entry and requires minimal investigator training.</a:t>
            </a:r>
          </a:p>
          <a:p>
            <a:pPr>
              <a:defRPr sz="950">
                <a:solidFill>
                  <a:srgbClr val="2D3748"/>
                </a:solidFill>
              </a:defRPr>
            </a:pPr>
            <a:r>
              <a:rPr dirty="0"/>
              <a:t>&lt;b&gt;Challenges &amp; Mitigation:&lt;/b&gt;</a:t>
            </a:r>
            <a:br>
              <a:rPr dirty="0"/>
            </a:br>
            <a:r>
              <a:rPr dirty="0"/>
              <a:t>Poor OCR quality of scanned FIRs will be mitigated by integrating Tesseract preprocessing scripts (noise reduction, contrast scaling).</a:t>
            </a:r>
          </a:p>
        </p:txBody>
      </p:sp>
      <p:sp>
        <p:nvSpPr>
          <p:cNvPr id="4" name="TextBox 3"/>
          <p:cNvSpPr txBox="1"/>
          <p:nvPr/>
        </p:nvSpPr>
        <p:spPr>
          <a:xfrm>
            <a:off x="6309360" y="1852397"/>
            <a:ext cx="5120640" cy="4297680"/>
          </a:xfrm>
          <a:prstGeom prst="rect">
            <a:avLst/>
          </a:prstGeom>
          <a:noFill/>
        </p:spPr>
        <p:txBody>
          <a:bodyPr wrap="square" lIns="0" tIns="0" rIns="0" bIns="0">
            <a:spAutoFit/>
          </a:bodyPr>
          <a:lstStyle/>
          <a:p>
            <a:pPr>
              <a:spcAft>
                <a:spcPts val="1000"/>
              </a:spcAft>
              <a:defRPr sz="1200" b="1">
                <a:solidFill>
                  <a:srgbClr val="1A365D"/>
                </a:solidFill>
              </a:defRPr>
            </a:pPr>
            <a:r>
              <a:t>COMPETITOR COMPARISON MATRIX</a:t>
            </a:r>
          </a:p>
          <a:p>
            <a:pPr>
              <a:defRPr sz="1050">
                <a:solidFill>
                  <a:srgbClr val="1A365D"/>
                </a:solidFill>
                <a:latin typeface="Helvetica"/>
              </a:defRPr>
            </a:pPr>
            <a:r>
              <a:t>&lt;b&gt;📊  Police Status Quo (Excel/Highlighters)&lt;/b&gt;</a:t>
            </a:r>
          </a:p>
          <a:p>
            <a:pPr>
              <a:spcAft>
                <a:spcPts val="600"/>
              </a:spcAft>
              <a:defRPr sz="950">
                <a:solidFill>
                  <a:srgbClr val="2D3748"/>
                </a:solidFill>
                <a:latin typeface="Helvetica"/>
              </a:defRPr>
            </a:pPr>
            <a:r>
              <a:t>CDRs and bank sheets live in separate siloes. Requires manual data sorting, taking days to find links.</a:t>
            </a:r>
          </a:p>
          <a:p>
            <a:pPr>
              <a:defRPr sz="1050">
                <a:solidFill>
                  <a:srgbClr val="1A365D"/>
                </a:solidFill>
                <a:latin typeface="Helvetica"/>
              </a:defRPr>
            </a:pPr>
            <a:r>
              <a:t>&lt;b&gt;🏢  Enterprise Tools (IBM i2 / Palantir)&lt;/b&gt;</a:t>
            </a:r>
          </a:p>
          <a:p>
            <a:pPr>
              <a:spcAft>
                <a:spcPts val="600"/>
              </a:spcAft>
              <a:defRPr sz="950">
                <a:solidFill>
                  <a:srgbClr val="2D3748"/>
                </a:solidFill>
                <a:latin typeface="Helvetica"/>
              </a:defRPr>
            </a:pPr>
            <a:r>
              <a:t>Extremely expensive licensing, steep learning curve, requires heavy database servers, and lacks regional Indian language support.</a:t>
            </a:r>
          </a:p>
          <a:p>
            <a:pPr>
              <a:defRPr sz="1050">
                <a:solidFill>
                  <a:srgbClr val="1A365D"/>
                </a:solidFill>
                <a:latin typeface="Helvetica"/>
              </a:defRPr>
            </a:pPr>
            <a:r>
              <a:t>&lt;b&gt;🛡️  Sentinel Link (Our Solution)&lt;/b&gt;</a:t>
            </a:r>
          </a:p>
          <a:p>
            <a:pPr>
              <a:spcAft>
                <a:spcPts val="600"/>
              </a:spcAft>
              <a:defRPr sz="950">
                <a:solidFill>
                  <a:srgbClr val="2D3748"/>
                </a:solidFill>
                <a:latin typeface="Helvetica"/>
              </a:defRPr>
            </a:pPr>
            <a:r>
              <a:t>100% free/open-source, auto-parses files via AI, translates regional Indian languages, and offers zero-setup local 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8.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758825" y="1872062"/>
            <a:ext cx="5120640" cy="4297680"/>
          </a:xfrm>
          <a:prstGeom prst="rect">
            <a:avLst/>
          </a:prstGeom>
          <a:noFill/>
        </p:spPr>
        <p:txBody>
          <a:bodyPr wrap="square" lIns="0" tIns="0" rIns="0" bIns="0">
            <a:spAutoFit/>
          </a:bodyPr>
          <a:lstStyle/>
          <a:p>
            <a:pPr>
              <a:spcAft>
                <a:spcPts val="1000"/>
              </a:spcAft>
              <a:defRPr sz="1200" b="1">
                <a:solidFill>
                  <a:srgbClr val="1A365D"/>
                </a:solidFill>
              </a:defRPr>
            </a:pPr>
            <a:r>
              <a:rPr dirty="0"/>
              <a:t>RESEARCH &amp; ACADEMIC REFERENCE WORK</a:t>
            </a:r>
          </a:p>
          <a:p>
            <a:pPr>
              <a:spcAft>
                <a:spcPts val="1000"/>
              </a:spcAft>
              <a:defRPr sz="950">
                <a:solidFill>
                  <a:srgbClr val="2D3748"/>
                </a:solidFill>
              </a:defRPr>
            </a:pPr>
            <a:r>
              <a:rPr dirty="0"/>
              <a:t>1. &lt;b&gt;Graph-Based Link Analysis in Criminal Investigations:&lt;/b&gt; Core algorithms for Social Network Analysis (SNA) mapping gang structures.</a:t>
            </a:r>
          </a:p>
          <a:p>
            <a:pPr>
              <a:spcAft>
                <a:spcPts val="1000"/>
              </a:spcAft>
              <a:defRPr sz="950">
                <a:solidFill>
                  <a:srgbClr val="2D3748"/>
                </a:solidFill>
              </a:defRPr>
            </a:pPr>
            <a:r>
              <a:rPr dirty="0"/>
              <a:t>2. &lt;b&gt;Named Entity Recognition (NER) on Police Case Diaries:&lt;/b&gt; Training custom </a:t>
            </a:r>
            <a:r>
              <a:rPr dirty="0" err="1"/>
              <a:t>spaCy</a:t>
            </a:r>
            <a:r>
              <a:rPr dirty="0"/>
              <a:t> pipelines to identify crime entities.</a:t>
            </a:r>
          </a:p>
          <a:p>
            <a:pPr>
              <a:spcAft>
                <a:spcPts val="1000"/>
              </a:spcAft>
              <a:defRPr sz="950">
                <a:solidFill>
                  <a:srgbClr val="2D3748"/>
                </a:solidFill>
              </a:defRPr>
            </a:pPr>
            <a:r>
              <a:rPr dirty="0"/>
              <a:t>3. &lt;b&gt;Dijkstra Pathfinding on Transaction Networks:&lt;/b&gt; Research modeling money-laundering loops and financial flow routing.</a:t>
            </a:r>
          </a:p>
        </p:txBody>
      </p:sp>
      <p:sp>
        <p:nvSpPr>
          <p:cNvPr id="4" name="TextBox 3"/>
          <p:cNvSpPr txBox="1"/>
          <p:nvPr/>
        </p:nvSpPr>
        <p:spPr>
          <a:xfrm>
            <a:off x="6309360" y="1872062"/>
            <a:ext cx="5120640" cy="4297680"/>
          </a:xfrm>
          <a:prstGeom prst="rect">
            <a:avLst/>
          </a:prstGeom>
          <a:noFill/>
        </p:spPr>
        <p:txBody>
          <a:bodyPr wrap="square" lIns="0" tIns="0" rIns="0" bIns="0">
            <a:spAutoFit/>
          </a:bodyPr>
          <a:lstStyle/>
          <a:p>
            <a:pPr>
              <a:spcAft>
                <a:spcPts val="1200"/>
              </a:spcAft>
              <a:defRPr sz="1200" b="1">
                <a:solidFill>
                  <a:srgbClr val="1A365D"/>
                </a:solidFill>
              </a:defRPr>
            </a:pPr>
            <a:r>
              <a:t>PROTOTYPE CODE &amp; LIVE DEMO</a:t>
            </a:r>
          </a:p>
          <a:p>
            <a:pPr>
              <a:spcAft>
                <a:spcPts val="1200"/>
              </a:spcAft>
              <a:defRPr sz="1000">
                <a:solidFill>
                  <a:srgbClr val="2D3748"/>
                </a:solidFill>
              </a:defRPr>
            </a:pPr>
            <a:r>
              <a:t>&lt;b&gt;💻  GitHub Repository:&lt;/b&gt;</a:t>
            </a:r>
            <a:br/>
            <a:r>
              <a:t>&lt;u&gt;github.com/apexlogic/sentinel-link&lt;/u&gt;</a:t>
            </a:r>
            <a:br/>
            <a:r>
              <a:t>Contains code for FastAPI, React client UI, and NLP extraction modules.</a:t>
            </a:r>
          </a:p>
          <a:p>
            <a:pPr>
              <a:spcAft>
                <a:spcPts val="1200"/>
              </a:spcAft>
              <a:defRPr sz="1000">
                <a:solidFill>
                  <a:srgbClr val="2D3748"/>
                </a:solidFill>
              </a:defRPr>
            </a:pPr>
            <a:r>
              <a:t>&lt;b&gt;🌐  Interactive Web Demo:&lt;/b&gt;</a:t>
            </a:r>
            <a:br/>
            <a:r>
              <a:t>&lt;u&gt;apexlogic.tech/sentinel-link&lt;/u&gt;</a:t>
            </a:r>
            <a:br/>
            <a:r>
              <a:t>A running prototype displaying mock cases and call graphs.</a:t>
            </a:r>
          </a:p>
          <a:p>
            <a:pPr>
              <a:defRPr sz="1000">
                <a:solidFill>
                  <a:srgbClr val="2D3748"/>
                </a:solidFill>
              </a:defRPr>
            </a:pPr>
            <a:r>
              <a:t>&lt;b&gt;✉️  Team Contact Email:&lt;/b&gt;</a:t>
            </a:r>
            <a:br/>
            <a:r>
              <a:t>&lt;u&gt;contact@apexlogic.tech&lt;/u&gt;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1429</Words>
  <Application>Microsoft Office PowerPoint</Application>
  <PresentationFormat>Custom</PresentationFormat>
  <Paragraphs>76</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Varun Mishra</cp:lastModifiedBy>
  <cp:revision>2</cp:revision>
  <dcterms:created xsi:type="dcterms:W3CDTF">2013-01-27T09:14:16Z</dcterms:created>
  <dcterms:modified xsi:type="dcterms:W3CDTF">2026-08-31T15:22:06Z</dcterms:modified>
  <cp:category/>
</cp:coreProperties>
</file>