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60" r:id="rId11"/>
    <p:sldId id="262" r:id="rId13"/>
    <p:sldId id="261" r:id="rId12"/>
    <p:sldId id="259" r:id="rId10"/>
    <p:sldId id="257" r:id="rId8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Inter"/>
              </a:defRPr>
            </a:pPr>
            <a:r>
              <a:t>DECODE SIH 2026   •   TEAM APEX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0F1623"/>
                </a:solidFill>
                <a:latin typeface="Inter"/>
              </a:defRPr>
            </a:pPr>
            <a:r>
              <a:t>WanderWise</a:t>
            </a:r>
          </a:p>
          <a:p>
            <a:pPr>
              <a:spcBef>
                <a:spcPts val="1000"/>
              </a:spcBef>
              <a:defRPr sz="2200" b="1">
                <a:solidFill>
                  <a:srgbClr val="0EA5E9"/>
                </a:solidFill>
                <a:latin typeface="Inter"/>
              </a:defRPr>
            </a:pPr>
            <a:r>
              <a:t>AI-Powered Travel Planner Built for Indian Students</a:t>
            </a:r>
          </a:p>
          <a:p>
            <a:pPr>
              <a:spcBef>
                <a:spcPts val="1500"/>
              </a:spcBef>
              <a:defRPr sz="1400">
                <a:solidFill>
                  <a:srgbClr val="6B7280"/>
                </a:solidFill>
                <a:latin typeface="Inter"/>
              </a:defRPr>
            </a:pPr>
            <a:r>
              <a:t>Integrating live safety alerts, smart budgeting, Gemini-generated itineraries, destination discovery, and parent tracking into a seamless 3-minute planning experience.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4572000"/>
            <a:ext cx="2761488" cy="365760"/>
          </a:xfrm>
          <a:prstGeom prst="roundRect">
            <a:avLst/>
          </a:prstGeom>
          <a:solidFill>
            <a:srgbClr val="0F1623"/>
          </a:solidFill>
          <a:ln w="19050">
            <a:solidFill>
              <a:srgbClr val="0F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645152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Bharat Pragati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4448" y="4572000"/>
            <a:ext cx="3090672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4448" y="464515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0F1623"/>
                </a:solidFill>
                <a:latin typeface="Inter"/>
              </a:defRPr>
            </a:pPr>
            <a:r>
              <a:t>Travel Tech &amp;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4572000"/>
            <a:ext cx="2761488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4645152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0F1623"/>
                </a:solidFill>
                <a:latin typeface="Inter"/>
              </a:defRPr>
            </a:pPr>
            <a:r>
              <a:t>Student Safety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10928" y="4572000"/>
            <a:ext cx="2596896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0928" y="4645152"/>
            <a:ext cx="25968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0F1623"/>
                </a:solidFill>
                <a:latin typeface="Inter"/>
              </a:defRPr>
            </a:pPr>
            <a:r>
              <a:t>Generative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44984" y="4572000"/>
            <a:ext cx="3584448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44984" y="4645152"/>
            <a:ext cx="35844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0F1623"/>
                </a:solidFill>
                <a:latin typeface="Inter"/>
              </a:defRPr>
            </a:pPr>
            <a:r>
              <a:t>Disaster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4360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623"/>
                </a:solidFill>
                <a:latin typeface="Inter"/>
              </a:defRPr>
            </a:pPr>
            <a:r>
              <a:t>Varun Mishra  ·  Vaibhav Thakur  ·  Soumya Verma  ·  Vansh  ·  Utkarsh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623"/>
                </a:solidFill>
                <a:latin typeface="Inter"/>
              </a:defRPr>
            </a:pPr>
            <a:r>
              <a:t>TEAM MEMBERS</a:t>
            </a:r>
          </a:p>
          <a:p>
            <a:pPr algn="r">
              <a:defRPr sz="1000" b="1">
                <a:solidFill>
                  <a:srgbClr val="0EA5E9"/>
                </a:solidFill>
                <a:latin typeface="Inter"/>
              </a:defRPr>
            </a:pPr>
            <a:r>
              <a:t>DECODE SIH 2026  |  PROJECT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0817352" cy="27432"/>
          </a:xfrm>
          <a:prstGeom prst="rect">
            <a:avLst/>
          </a:prstGeom>
          <a:solidFill>
            <a:srgbClr val="0F1623"/>
          </a:solidFill>
          <a:ln>
            <a:solidFill>
              <a:srgbClr val="0F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Inter"/>
              </a:defRPr>
            </a:pPr>
            <a:r>
              <a:t>WanderWise  |  Team: Apex Logic  |  Track: Bharat Pragati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817352" cy="7772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385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623"/>
                </a:solidFill>
                <a:latin typeface="Inter"/>
              </a:defRPr>
            </a:pPr>
            <a:r>
              <a:t>Varun Mishra</a:t>
            </a:r>
          </a:p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Team Lead · Full-Stack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10817352" cy="7772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529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623"/>
                </a:solidFill>
                <a:latin typeface="Inter"/>
              </a:defRPr>
            </a:pPr>
            <a:r>
              <a:t>Vaibhav Thakur</a:t>
            </a:r>
          </a:p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Backend Developer · API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57600"/>
            <a:ext cx="10817352" cy="7772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6732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673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623"/>
                </a:solidFill>
                <a:latin typeface="Inter"/>
              </a:defRPr>
            </a:pPr>
            <a:r>
              <a:t>Soumya Verma</a:t>
            </a:r>
          </a:p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Frontend Developer · UI/UX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72000"/>
            <a:ext cx="10817352" cy="7772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8172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817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623"/>
                </a:solidFill>
                <a:latin typeface="Inter"/>
              </a:defRPr>
            </a:pPr>
            <a:r>
              <a:t>Vansh</a:t>
            </a:r>
          </a:p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AI/ML Integration · Gemini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486400"/>
            <a:ext cx="10817352" cy="7772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9612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59612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623"/>
                </a:solidFill>
                <a:latin typeface="Inter"/>
              </a:defRPr>
            </a:pPr>
            <a:r>
              <a:t>Utkarsh Sharma</a:t>
            </a:r>
          </a:p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Data Engineer · Safety &amp; Budget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623"/>
                </a:solidFill>
                <a:latin typeface="Inter"/>
              </a:defRPr>
            </a:pPr>
            <a:r>
              <a:t>PROBLEM STATEMENT</a:t>
            </a:r>
          </a:p>
          <a:p>
            <a:pPr algn="r">
              <a:defRPr sz="1000" b="1">
                <a:solidFill>
                  <a:srgbClr val="0EA5E9"/>
                </a:solidFill>
                <a:latin typeface="Inter"/>
              </a:defRPr>
            </a:pPr>
            <a:r>
              <a:t>DECODE SIH 2026  |  PROJECT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0817352" cy="27432"/>
          </a:xfrm>
          <a:prstGeom prst="rect">
            <a:avLst/>
          </a:prstGeom>
          <a:solidFill>
            <a:srgbClr val="0F1623"/>
          </a:solidFill>
          <a:ln>
            <a:solidFill>
              <a:srgbClr val="0F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PROBLEM TITLE</a:t>
            </a:r>
          </a:p>
          <a:p>
            <a:pPr>
              <a:spcAft>
                <a:spcPts val="2000"/>
              </a:spcAft>
              <a:defRPr sz="1300" b="1">
                <a:solidFill>
                  <a:srgbClr val="0F1623"/>
                </a:solidFill>
                <a:latin typeface="Inter"/>
              </a:defRPr>
            </a:pPr>
            <a:r>
              <a:t>Lack of a unified, AI-powered travel planning platform for Indian students that integrates live safety data, real-time budget estimation, and parent tracking in a single tool.</a:t>
            </a:r>
          </a:p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WHY DID OUR TEAM CHOOSE THIS?</a:t>
            </a:r>
          </a:p>
          <a:p>
            <a:pPr>
              <a:defRPr sz="1150">
                <a:solidFill>
                  <a:srgbClr val="0F1623"/>
                </a:solidFill>
                <a:latin typeface="Inter"/>
              </a:defRPr>
            </a:pPr>
            <a:r>
              <a:t>Our team personally experienced the chaos of planning trips across multiple disconnected apps (Google Maps, MakeMyTrip, IRCTC, weather portals, WhatsApp).</a:t>
            </a:r>
            <a:br/>
            <a:br/>
            <a:r>
              <a:t>In August 2024, a group of students got stranded in Himachal Pradesh due to unpredicted landslides on a route no app flagged. WanderWise was conceived to solve this real-world hazard by integrating proactive safety, accurate student budgeting, and generative AI into a single trusted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WHAT DOES THIS PROBLEM AIM TO SOLVE?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13716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623"/>
                </a:solidFill>
                <a:latin typeface="Inter"/>
              </a:defRPr>
            </a:pPr>
            <a:r>
              <a:t>🚨  Safety Blindness</a:t>
            </a:r>
          </a:p>
          <a:p>
            <a:pPr>
              <a:spcBef>
                <a:spcPts val="400"/>
              </a:spcBef>
              <a:defRPr sz="1050">
                <a:solidFill>
                  <a:srgbClr val="6B7280"/>
                </a:solidFill>
                <a:latin typeface="Inter"/>
              </a:defRPr>
            </a:pPr>
            <a:r>
              <a:t>Existing travel apps do not warn users of active landslides, flash floods, or official NDMA safety advisories prior to booking.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5212080" cy="13716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623"/>
                </a:solidFill>
                <a:latin typeface="Inter"/>
              </a:defRPr>
            </a:pPr>
            <a:r>
              <a:t>💵  Budget Uncertainty</a:t>
            </a:r>
          </a:p>
          <a:p>
            <a:pPr>
              <a:spcBef>
                <a:spcPts val="400"/>
              </a:spcBef>
              <a:defRPr sz="1050">
                <a:solidFill>
                  <a:srgbClr val="6B7280"/>
                </a:solidFill>
                <a:latin typeface="Inter"/>
              </a:defRPr>
            </a:pPr>
            <a:r>
              <a:t>Popular OTA platforms fail to provide realistic itemized cost estimations tailored for student budgets (hostels, state buses, local street food).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846320"/>
            <a:ext cx="5212080" cy="13716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623"/>
                </a:solidFill>
                <a:latin typeface="Inter"/>
              </a:defRPr>
            </a:pPr>
            <a:r>
              <a:t>📱  Parent Anxiety</a:t>
            </a:r>
          </a:p>
          <a:p>
            <a:pPr>
              <a:spcBef>
                <a:spcPts val="400"/>
              </a:spcBef>
              <a:defRPr sz="1050">
                <a:solidFill>
                  <a:srgbClr val="6B7280"/>
                </a:solidFill>
                <a:latin typeface="Inter"/>
              </a:defRPr>
            </a:pPr>
            <a:r>
              <a:t>Parents lack non-intrusive visibility into trip progress and safety status, relying solely on sporadic manual check-ins.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623"/>
                </a:solidFill>
                <a:latin typeface="Inter"/>
              </a:defRPr>
            </a:pPr>
            <a:r>
              <a:t>REAL-WORLD PROBLEM ALIGNMENT</a:t>
            </a:r>
          </a:p>
          <a:p>
            <a:pPr algn="r">
              <a:defRPr sz="1000" b="1">
                <a:solidFill>
                  <a:srgbClr val="0EA5E9"/>
                </a:solidFill>
                <a:latin typeface="Inter"/>
              </a:defRPr>
            </a:pPr>
            <a:r>
              <a:t>DECODE SIH 2026  |  PROJECT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0817352" cy="27432"/>
          </a:xfrm>
          <a:prstGeom prst="rect">
            <a:avLst/>
          </a:prstGeom>
          <a:solidFill>
            <a:srgbClr val="0F1623"/>
          </a:solidFill>
          <a:ln>
            <a:solidFill>
              <a:srgbClr val="0F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5120640" cy="23774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484632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Inter"/>
              </a:defRPr>
            </a:pPr>
            <a:r>
              <a:t>👥  WHO FACES THIS ISSUE?</a:t>
            </a:r>
          </a:p>
          <a:p>
            <a:pPr>
              <a:spcBef>
                <a:spcPts val="600"/>
              </a:spcBef>
              <a:defRPr sz="1100">
                <a:solidFill>
                  <a:srgbClr val="0F1623"/>
                </a:solidFill>
                <a:latin typeface="Inter"/>
              </a:defRPr>
            </a:pPr>
            <a:r>
              <a:t>India's 400+ million student demographic (ages 17–25) planning budget trips to hill stations, heritage hubs, and eco-tourism sites;</a:t>
            </a:r>
            <a:br/>
            <a:r>
              <a:t>• Parents seeking peace of mind;</a:t>
            </a:r>
            <a:br/>
            <a:r>
              <a:t>• College trip leaders managing group excursions.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280160"/>
            <a:ext cx="5120640" cy="23774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9672" y="1389888"/>
            <a:ext cx="484632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Inter"/>
              </a:defRPr>
            </a:pPr>
            <a:r>
              <a:t>🚧  WHAT'S THE CURRENT GAP?</a:t>
            </a:r>
          </a:p>
          <a:p>
            <a:pPr>
              <a:spcBef>
                <a:spcPts val="600"/>
              </a:spcBef>
              <a:defRPr sz="1100">
                <a:solidFill>
                  <a:srgbClr val="0F1623"/>
                </a:solidFill>
                <a:latin typeface="Inter"/>
              </a:defRPr>
            </a:pPr>
            <a:r>
              <a:t>• No travel application in India integrates official NDMA + IMD real-time safety feeds.</a:t>
            </a:r>
            <a:br/>
            <a:r>
              <a:t>• OTA budget tools cater to luxury/mid-range tourists.</a:t>
            </a:r>
            <a:br/>
            <a:r>
              <a:t>• Parents have zero structured visibility.</a:t>
            </a:r>
            <a:br/>
            <a:r>
              <a:t>• No AI recommendation optimized for student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31920"/>
            <a:ext cx="5120640" cy="23774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41648"/>
            <a:ext cx="484632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Inter"/>
              </a:defRPr>
            </a:pPr>
            <a:r>
              <a:t>💡  HOW DOES WANDERWISE FILL THIS?</a:t>
            </a:r>
          </a:p>
          <a:p>
            <a:pPr>
              <a:spcBef>
                <a:spcPts val="600"/>
              </a:spcBef>
              <a:defRPr sz="1100">
                <a:solidFill>
                  <a:srgbClr val="0F1623"/>
                </a:solidFill>
                <a:latin typeface="Inter"/>
              </a:defRPr>
            </a:pPr>
            <a:r>
              <a:t>WanderWise consolidates real-time risk evaluation (NDMA/IMD hazard patterns), itemized student budgeting (transit + hostel + local food + 10% buffer), Gemini 1.5 Flash itinerary generation, and parent tracking dashboards in under 3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2512" y="3931920"/>
            <a:ext cx="5120640" cy="23774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4041648"/>
            <a:ext cx="484632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Inter"/>
              </a:defRPr>
            </a:pPr>
            <a:r>
              <a:t>🏛️  GOVERNMENT SCHEME ALIGNMENT</a:t>
            </a:r>
          </a:p>
          <a:p>
            <a:pPr>
              <a:spcBef>
                <a:spcPts val="600"/>
              </a:spcBef>
              <a:defRPr sz="1100">
                <a:solidFill>
                  <a:srgbClr val="0F1623"/>
                </a:solidFill>
                <a:latin typeface="Inter"/>
              </a:defRPr>
            </a:pPr>
            <a:r>
              <a:t>Directly aligns with GoI's Dekho Apna Desh initiative (promoting domestic tourism), NDMA public emergency response mandates, and Digital India mission for AI-driven public service innovations.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623"/>
                </a:solidFill>
                <a:latin typeface="Inter"/>
              </a:defRPr>
            </a:pPr>
            <a:r>
              <a:t>PROPOSED SOLUTION</a:t>
            </a:r>
          </a:p>
          <a:p>
            <a:pPr algn="r">
              <a:defRPr sz="1000" b="1">
                <a:solidFill>
                  <a:srgbClr val="0EA5E9"/>
                </a:solidFill>
                <a:latin typeface="Inter"/>
              </a:defRPr>
            </a:pPr>
            <a:r>
              <a:t>DECODE SIH 2026  |  PROJECT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0817352" cy="27432"/>
          </a:xfrm>
          <a:prstGeom prst="rect">
            <a:avLst/>
          </a:prstGeom>
          <a:solidFill>
            <a:srgbClr val="0F1623"/>
          </a:solidFill>
          <a:ln>
            <a:solidFill>
              <a:srgbClr val="0F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WHAT ARE YOU BUILDING?</a:t>
            </a:r>
          </a:p>
          <a:p>
            <a:pPr>
              <a:spcBef>
                <a:spcPts val="400"/>
              </a:spcBef>
              <a:defRPr sz="1200">
                <a:solidFill>
                  <a:srgbClr val="0F1623"/>
                </a:solidFill>
                <a:latin typeface="Inter"/>
              </a:defRPr>
            </a:pPr>
            <a:r>
              <a:t>WanderWise is an AI-powered travel ecosystem designed specifically for Indian students. Users can select a destination or utilize AI discovery based on mood, budget, and dates. The engine analyzes live weather, flags seasonal NDMA/IMD hazard risks, computes itemized student budget breakdowns, and generates optimized daily itineraries via Google Gemini 1.5 Flash—incorporating student-friendly hidden gems. A dedicated Parent Dashboard provides family members with live tracking &amp; SOS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51760"/>
            <a:ext cx="2560320" cy="23774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623"/>
                </a:solidFill>
                <a:latin typeface="Inter"/>
              </a:defRPr>
            </a:pPr>
            <a:r>
              <a:t>🔮 AI Discovery</a:t>
            </a:r>
          </a:p>
          <a:p>
            <a:pPr>
              <a:spcBef>
                <a:spcPts val="600"/>
              </a:spcBef>
              <a:defRPr sz="1000">
                <a:solidFill>
                  <a:srgbClr val="6B7280"/>
                </a:solidFill>
                <a:latin typeface="Inter"/>
              </a:defRPr>
            </a:pPr>
            <a:r>
              <a:t>Mood &amp; budget inputs trigger Gemini 1.5 Flash scoring across safety, season, and cost to recommend top 3 tailored destinations.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651760"/>
            <a:ext cx="2560320" cy="23774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74320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623"/>
                </a:solidFill>
                <a:latin typeface="Inter"/>
              </a:defRPr>
            </a:pPr>
            <a:r>
              <a:t>⚠️ Safety Engine</a:t>
            </a:r>
          </a:p>
          <a:p>
            <a:pPr>
              <a:spcBef>
                <a:spcPts val="600"/>
              </a:spcBef>
              <a:defRPr sz="1000">
                <a:solidFill>
                  <a:srgbClr val="6B7280"/>
                </a:solidFill>
                <a:latin typeface="Inter"/>
              </a:defRPr>
            </a:pPr>
            <a:r>
              <a:t>Integrates NDMA + IMD hazard feeds to flag active landslides, floods, and severe weather, automatically rerouting plans.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651760"/>
            <a:ext cx="2560320" cy="23774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74320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623"/>
                </a:solidFill>
                <a:latin typeface="Inter"/>
              </a:defRPr>
            </a:pPr>
            <a:r>
              <a:t>💰 Budget Calc</a:t>
            </a:r>
          </a:p>
          <a:p>
            <a:pPr>
              <a:spcBef>
                <a:spcPts val="600"/>
              </a:spcBef>
              <a:defRPr sz="1000">
                <a:solidFill>
                  <a:srgbClr val="6B7280"/>
                </a:solidFill>
                <a:latin typeface="Inter"/>
              </a:defRPr>
            </a:pPr>
            <a:r>
              <a:t>Computes hyper-accurate itemized costs (train/bus + hostel + street food + local transit + 10% buffer) for ₹3,000–₹20,000 budgets.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2651760"/>
            <a:ext cx="2560320" cy="23774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74320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623"/>
                </a:solidFill>
                <a:latin typeface="Inter"/>
              </a:defRPr>
            </a:pPr>
            <a:r>
              <a:t>👨‍👩‍👧 Parent Dash</a:t>
            </a:r>
          </a:p>
          <a:p>
            <a:pPr>
              <a:spcBef>
                <a:spcPts val="600"/>
              </a:spcBef>
              <a:defRPr sz="1000">
                <a:solidFill>
                  <a:srgbClr val="6B7280"/>
                </a:solidFill>
                <a:latin typeface="Inter"/>
              </a:defRPr>
            </a:pPr>
            <a:r>
              <a:t>Generates secure web link displaying interactive Leaflet map location, active itinerary status, and a one-tap SOS emergency button.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12080"/>
            <a:ext cx="108173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WHAT MAKES IT DIFFERENT OR INNOVATIVE?</a:t>
            </a:r>
          </a:p>
          <a:p>
            <a:pPr>
              <a:spcBef>
                <a:spcPts val="400"/>
              </a:spcBef>
              <a:defRPr sz="1150" b="1">
                <a:solidFill>
                  <a:srgbClr val="0F1623"/>
                </a:solidFill>
                <a:latin typeface="Inter"/>
              </a:defRPr>
            </a:pPr>
            <a:r>
              <a:t>WanderWise is India's first unified platform combining multi-layered safety intelligence, student cost modeling, generative AI itinerary planning, and parent peace-of-mind tracking into one cohesive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623"/>
                </a:solidFill>
                <a:latin typeface="Inter"/>
              </a:defRPr>
            </a:pPr>
            <a:r>
              <a:t>TECH STACK &amp; ARCHITECTURE</a:t>
            </a:r>
          </a:p>
          <a:p>
            <a:pPr algn="r">
              <a:defRPr sz="1000" b="1">
                <a:solidFill>
                  <a:srgbClr val="0EA5E9"/>
                </a:solidFill>
                <a:latin typeface="Inter"/>
              </a:defRPr>
            </a:pPr>
            <a:r>
              <a:t>DECODE SIH 2026  |  PROJECT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0817352" cy="27432"/>
          </a:xfrm>
          <a:prstGeom prst="rect">
            <a:avLst/>
          </a:prstGeom>
          <a:solidFill>
            <a:srgbClr val="0F1623"/>
          </a:solidFill>
          <a:ln>
            <a:solidFill>
              <a:srgbClr val="0F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SYSTEM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468880" cy="7772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Inter"/>
              </a:defRPr>
            </a:pPr>
            <a:r>
              <a:t>FRONTEND</a:t>
            </a:r>
          </a:p>
          <a:p>
            <a:pPr>
              <a:spcBef>
                <a:spcPts val="300"/>
              </a:spcBef>
              <a:defRPr sz="1100" b="1">
                <a:solidFill>
                  <a:srgbClr val="0F1623"/>
                </a:solidFill>
                <a:latin typeface="Inter"/>
              </a:defRPr>
            </a:pPr>
            <a:r>
              <a:t>React 18 + Vite + Leaflet.js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45920"/>
            <a:ext cx="2468880" cy="7772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71907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Inter"/>
              </a:defRPr>
            </a:pPr>
            <a:r>
              <a:t>BACKEND</a:t>
            </a:r>
          </a:p>
          <a:p>
            <a:pPr>
              <a:spcBef>
                <a:spcPts val="300"/>
              </a:spcBef>
              <a:defRPr sz="1100" b="1">
                <a:solidFill>
                  <a:srgbClr val="0F1623"/>
                </a:solidFill>
                <a:latin typeface="Inter"/>
              </a:defRPr>
            </a:pPr>
            <a:r>
              <a:t>Python FastAPI + Uvicorn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2468880" cy="7772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8775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Inter"/>
              </a:defRPr>
            </a:pPr>
            <a:r>
              <a:t>AI / LLM ENGINE</a:t>
            </a:r>
          </a:p>
          <a:p>
            <a:pPr>
              <a:spcBef>
                <a:spcPts val="300"/>
              </a:spcBef>
              <a:defRPr sz="1100" b="1">
                <a:solidFill>
                  <a:srgbClr val="0F1623"/>
                </a:solidFill>
                <a:latin typeface="Inter"/>
              </a:defRPr>
            </a:pPr>
            <a:r>
              <a:t>Google Gemini 1.5 Flash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514600"/>
            <a:ext cx="2468880" cy="7772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58775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Inter"/>
              </a:defRPr>
            </a:pPr>
            <a:r>
              <a:t>WEATHER DATA</a:t>
            </a:r>
          </a:p>
          <a:p>
            <a:pPr>
              <a:spcBef>
                <a:spcPts val="300"/>
              </a:spcBef>
              <a:defRPr sz="1100" b="1">
                <a:solidFill>
                  <a:srgbClr val="0F1623"/>
                </a:solidFill>
                <a:latin typeface="Inter"/>
              </a:defRPr>
            </a:pPr>
            <a:r>
              <a:t>OpenWeatherMap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83280"/>
            <a:ext cx="2468880" cy="7772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Inter"/>
              </a:defRPr>
            </a:pPr>
            <a:r>
              <a:t>MAPPING / GIS</a:t>
            </a:r>
          </a:p>
          <a:p>
            <a:pPr>
              <a:spcBef>
                <a:spcPts val="300"/>
              </a:spcBef>
              <a:defRPr sz="1100" b="1">
                <a:solidFill>
                  <a:srgbClr val="0F1623"/>
                </a:solidFill>
                <a:latin typeface="Inter"/>
              </a:defRPr>
            </a:pPr>
            <a:r>
              <a:t>OpenStreetMap + Leaflet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3383280"/>
            <a:ext cx="2468880" cy="7772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4564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Inter"/>
              </a:defRPr>
            </a:pPr>
            <a:r>
              <a:t>SAFETY DATABASE</a:t>
            </a:r>
          </a:p>
          <a:p>
            <a:pPr>
              <a:spcBef>
                <a:spcPts val="300"/>
              </a:spcBef>
              <a:defRPr sz="1100" b="1">
                <a:solidFill>
                  <a:srgbClr val="0F1623"/>
                </a:solidFill>
                <a:latin typeface="Inter"/>
              </a:defRPr>
            </a:pPr>
            <a:r>
              <a:t>NDMA + IMD Seasonal Feeds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188720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APIS / LIBRARIES</a:t>
            </a:r>
          </a:p>
          <a:p>
            <a:pPr>
              <a:spcBef>
                <a:spcPts val="400"/>
              </a:spcBef>
              <a:spcAft>
                <a:spcPts val="1500"/>
              </a:spcAft>
              <a:defRPr sz="1150">
                <a:solidFill>
                  <a:srgbClr val="0F1623"/>
                </a:solidFill>
                <a:latin typeface="Inter"/>
              </a:defRPr>
            </a:pPr>
            <a:r>
              <a:t>Google Generative AI SDK · Axios · React Router DOM · Pydantic · httpx · python-dotenv · react-leaflet · lucide-react</a:t>
            </a:r>
          </a:p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DEPLOYMENT PLAN</a:t>
            </a:r>
          </a:p>
          <a:p>
            <a:pPr>
              <a:spcBef>
                <a:spcPts val="400"/>
              </a:spcBef>
              <a:defRPr sz="1150">
                <a:solidFill>
                  <a:srgbClr val="0F1623"/>
                </a:solidFill>
                <a:latin typeface="Inter"/>
              </a:defRPr>
            </a:pPr>
            <a:r>
              <a:t>• Frontend: Hosted on Vercel CDN with automated GitHub CI/CD</a:t>
            </a:r>
            <a:br/>
            <a:r>
              <a:t>• Backend: Deployed on Railway (FastAPI Docker container)</a:t>
            </a:r>
            <a:br/>
            <a:r>
              <a:t>• Database: Phase 0: Client localStorage + memory cache | Phase 1: Supabase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HIGH-LEVEL BLOCK DIAGRAM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09160"/>
            <a:ext cx="10817352" cy="14630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623"/>
                </a:solidFill>
                <a:latin typeface="Inter"/>
              </a:defRPr>
            </a:pPr>
            <a:r>
              <a:t>Student Web App (React)  ➔  FastAPI Backend API  ➔  Gemini 1.5 Flash API + OpenWeather API + NDMA / IMD Hazard DB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t>Parent Dashboard link allows direct tracking without installing apps. Static NDMA/IMD hazard mappings combined with dynamic coordinates to evaluate active travel warnings.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623"/>
                </a:solidFill>
                <a:latin typeface="Inter"/>
              </a:defRPr>
            </a:pPr>
            <a:r>
              <a:t>ARCHITECTURE DIAGRAM</a:t>
            </a:r>
          </a:p>
          <a:p>
            <a:pPr algn="r">
              <a:defRPr sz="1000" b="1">
                <a:solidFill>
                  <a:srgbClr val="0EA5E9"/>
                </a:solidFill>
                <a:latin typeface="Inter"/>
              </a:defRPr>
            </a:pPr>
            <a:r>
              <a:t>DECODE SIH 2026  |  PROJECT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0817352" cy="27432"/>
          </a:xfrm>
          <a:prstGeom prst="rect">
            <a:avLst/>
          </a:prstGeom>
          <a:solidFill>
            <a:srgbClr val="0F1623"/>
          </a:solidFill>
          <a:ln>
            <a:solidFill>
              <a:srgbClr val="0F1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B7280"/>
                </a:solidFill>
                <a:latin typeface="Inter"/>
              </a:defRPr>
            </a:pPr>
            <a:r>
              <a:t>Technical flow detailing interactions across Client Frontend, FastAPI Orchestration Layer, and External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01752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81144" y="1554480"/>
            <a:ext cx="301752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6488" y="1554480"/>
            <a:ext cx="301752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7432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</a:defRPr>
            </a:pPr>
            <a:r>
              <a:t>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7432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</a:defRPr>
            </a:pPr>
            <a:r>
              <a:t>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FRONTEND (REACT 18 + VITE)</a:t>
            </a:r>
          </a:p>
          <a:p>
            <a:pPr>
              <a:spcBef>
                <a:spcPts val="800"/>
              </a:spcBef>
              <a:defRPr sz="1100">
                <a:solidFill>
                  <a:srgbClr val="0F1623"/>
                </a:solidFill>
                <a:latin typeface="Inter"/>
              </a:defRPr>
            </a:pPr>
            <a:r>
              <a:t>🏠  Landing Page</a:t>
            </a:r>
          </a:p>
          <a:p>
            <a:pPr>
              <a:spcBef>
                <a:spcPts val="800"/>
              </a:spcBef>
              <a:defRPr sz="1100">
                <a:solidFill>
                  <a:srgbClr val="0F1623"/>
                </a:solidFill>
                <a:latin typeface="Inter"/>
              </a:defRPr>
            </a:pPr>
            <a:r>
              <a:t>🔮  Discover Page (Vibe inputs)</a:t>
            </a:r>
          </a:p>
          <a:p>
            <a:pPr>
              <a:spcBef>
                <a:spcPts val="800"/>
              </a:spcBef>
              <a:defRPr sz="1100">
                <a:solidFill>
                  <a:srgbClr val="0F1623"/>
                </a:solidFill>
                <a:latin typeface="Inter"/>
              </a:defRPr>
            </a:pPr>
            <a:r>
              <a:t>📝  Plan Trip Form</a:t>
            </a:r>
          </a:p>
          <a:p>
            <a:pPr>
              <a:spcBef>
                <a:spcPts val="800"/>
              </a:spcBef>
              <a:defRPr sz="1100">
                <a:solidFill>
                  <a:srgbClr val="0F1623"/>
                </a:solidFill>
                <a:latin typeface="Inter"/>
              </a:defRPr>
            </a:pPr>
            <a:r>
              <a:t>📊  Results Page (Itinerary)</a:t>
            </a:r>
          </a:p>
          <a:p>
            <a:pPr>
              <a:spcBef>
                <a:spcPts val="800"/>
              </a:spcBef>
              <a:defRPr sz="1100">
                <a:solidFill>
                  <a:srgbClr val="0F1623"/>
                </a:solidFill>
                <a:latin typeface="Inter"/>
              </a:defRPr>
            </a:pPr>
            <a:r>
              <a:t>👨‍👩‍👧  Parent Dashboard (SOS)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164592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BACKEND (FASTAPI)</a:t>
            </a:r>
          </a:p>
          <a:p>
            <a:pPr>
              <a:spcBef>
                <a:spcPts val="800"/>
              </a:spcBef>
              <a:defRPr sz="1100" b="1">
                <a:solidFill>
                  <a:srgbClr val="0F1623"/>
                </a:solidFill>
                <a:latin typeface="Inter"/>
              </a:defRPr>
            </a:pPr>
            <a:r>
              <a:t>POST  /api/discover</a:t>
            </a:r>
          </a:p>
          <a:p>
            <a:pPr>
              <a:spcBef>
                <a:spcPts val="800"/>
              </a:spcBef>
              <a:defRPr sz="1100" b="1">
                <a:solidFill>
                  <a:srgbClr val="0F1623"/>
                </a:solidFill>
                <a:latin typeface="Inter"/>
              </a:defRPr>
            </a:pPr>
            <a:r>
              <a:t>POST  /api/trips/plan</a:t>
            </a:r>
          </a:p>
          <a:p>
            <a:pPr>
              <a:spcBef>
                <a:spcPts val="800"/>
              </a:spcBef>
              <a:defRPr sz="1100" b="1">
                <a:solidFill>
                  <a:srgbClr val="0F1623"/>
                </a:solidFill>
                <a:latin typeface="Inter"/>
              </a:defRPr>
            </a:pPr>
            <a:r>
              <a:t>GET   /api/safety/{dest}</a:t>
            </a:r>
          </a:p>
          <a:p>
            <a:pPr>
              <a:spcBef>
                <a:spcPts val="800"/>
              </a:spcBef>
              <a:defRPr sz="1100" b="1">
                <a:solidFill>
                  <a:srgbClr val="0F1623"/>
                </a:solidFill>
                <a:latin typeface="Inter"/>
              </a:defRPr>
            </a:pPr>
            <a:r>
              <a:t>GET   /api/budget/{dest}</a:t>
            </a:r>
          </a:p>
          <a:p>
            <a:pPr>
              <a:spcBef>
                <a:spcPts val="800"/>
              </a:spcBef>
              <a:defRPr sz="1100" b="1">
                <a:solidFill>
                  <a:srgbClr val="0F1623"/>
                </a:solidFill>
                <a:latin typeface="Inter"/>
              </a:defRPr>
            </a:pPr>
            <a:r>
              <a:t>GET   /api/parent/{trip_id}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7928" y="164592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EXTERNAL SERVICES</a:t>
            </a:r>
          </a:p>
          <a:p>
            <a:pPr>
              <a:spcBef>
                <a:spcPts val="1000"/>
              </a:spcBef>
              <a:defRPr sz="1100">
                <a:solidFill>
                  <a:srgbClr val="0F1623"/>
                </a:solidFill>
                <a:latin typeface="Inter"/>
              </a:defRPr>
            </a:pPr>
            <a:r>
              <a:t>🤖  Gemini 1.5 Flash (LLM)</a:t>
            </a:r>
          </a:p>
          <a:p>
            <a:pPr>
              <a:spcBef>
                <a:spcPts val="1000"/>
              </a:spcBef>
              <a:defRPr sz="1100">
                <a:solidFill>
                  <a:srgbClr val="0F1623"/>
                </a:solidFill>
                <a:latin typeface="Inter"/>
              </a:defRPr>
            </a:pPr>
            <a:r>
              <a:t>🌤️  OpenWeatherMap API</a:t>
            </a:r>
          </a:p>
          <a:p>
            <a:pPr>
              <a:spcBef>
                <a:spcPts val="1000"/>
              </a:spcBef>
              <a:defRPr sz="1100">
                <a:solidFill>
                  <a:srgbClr val="0F1623"/>
                </a:solidFill>
                <a:latin typeface="Inter"/>
              </a:defRPr>
            </a:pPr>
            <a:r>
              <a:t>⚠️  NDMA / IMD Hazard DB</a:t>
            </a:r>
          </a:p>
          <a:p>
            <a:pPr>
              <a:spcBef>
                <a:spcPts val="1000"/>
              </a:spcBef>
              <a:defRPr sz="1100">
                <a:solidFill>
                  <a:srgbClr val="0F1623"/>
                </a:solidFill>
                <a:latin typeface="Inter"/>
              </a:defRPr>
            </a:pPr>
            <a:r>
              <a:t>🗺️  OpenStreetMap (Tiles)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54880"/>
            <a:ext cx="108173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623"/>
                </a:solidFill>
                <a:latin typeface="Inter"/>
              </a:defRPr>
            </a:pPr>
            <a:r>
              <a:t>CLOUD / DATABASE / ML MODEL</a:t>
            </a:r>
          </a:p>
          <a:p>
            <a:pPr>
              <a:spcBef>
                <a:spcPts val="400"/>
              </a:spcBef>
              <a:defRPr sz="1050">
                <a:solidFill>
                  <a:srgbClr val="6B7280"/>
                </a:solidFill>
                <a:latin typeface="Inter"/>
              </a:defRPr>
            </a:pPr>
            <a:r>
              <a:t>• AI Model: Google Gemini 1.5 Flash engine configured with structured JSON prompt engineering. Prompt combines user preferences, safety hazards, and local forecasts to generate a safety-adjusted itinerary dynamically.</a:t>
            </a:r>
            <a:br/>
            <a:r>
              <a:t>• Database: Phase 0 uses browser local Storage for offline persistence + in-memory backend cache; Phase 1 introduces Supabase (PostgreSQL) for user account management and long-term trip storage.</a:t>
            </a:r>
            <a:br/>
            <a:r>
              <a:t>• Cloud Infrastructure: Containerized FastAPI setup deployed on Railway, coupled with React hosted on Vercel CDN for fast regional delivery.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Inter"/>
              </a:defRPr>
            </a:pPr>
            <a:r>
              <a:t>DECODE SIH 2026   •   TRACK: BHARAT PRAGATI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F1623"/>
                </a:solidFill>
                <a:latin typeface="Inter"/>
              </a:defRPr>
            </a:pPr>
            <a:r>
              <a:t>THANK YOU</a:t>
            </a:r>
          </a:p>
          <a:p>
            <a:pPr algn="ctr">
              <a:spcBef>
                <a:spcPts val="1500"/>
              </a:spcBef>
              <a:defRPr sz="4800"/>
            </a:pPr>
            <a:r>
              <a:t>🧭</a:t>
            </a:r>
          </a:p>
          <a:p>
            <a:pPr algn="ctr">
              <a:spcBef>
                <a:spcPts val="500"/>
              </a:spcBef>
              <a:defRPr sz="2800" b="1">
                <a:solidFill>
                  <a:srgbClr val="0EA5E9"/>
                </a:solidFill>
                <a:latin typeface="Inter"/>
              </a:defRPr>
            </a:pPr>
            <a:r>
              <a:t>WanderWise</a:t>
            </a:r>
          </a:p>
          <a:p>
            <a:pPr algn="ctr">
              <a:spcBef>
                <a:spcPts val="600"/>
              </a:spcBef>
              <a:defRPr sz="1400" i="1">
                <a:solidFill>
                  <a:srgbClr val="6B7280"/>
                </a:solidFill>
                <a:latin typeface="Inter"/>
              </a:defRPr>
            </a:pPr>
            <a:r>
              <a:t>"AI-powered travel for students who dare to explore"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30352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100" b="1">
                <a:solidFill>
                  <a:srgbClr val="6B7280"/>
                </a:solidFill>
                <a:latin typeface="Inter"/>
              </a:defRPr>
            </a:pPr>
            <a:r>
              <a:t>TEAM APEX LOGIC</a:t>
            </a:r>
          </a:p>
          <a:p>
            <a:pPr algn="ctr">
              <a:defRPr sz="1300" b="1">
                <a:solidFill>
                  <a:srgbClr val="0F1623"/>
                </a:solidFill>
                <a:latin typeface="Inter"/>
              </a:defRPr>
            </a:pPr>
            <a:r>
              <a:t>Varun Mishra  ·  Vaibhav Thakur  ·  Soumya Verma  ·  Vansh  ·  Utkarsh Sharma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